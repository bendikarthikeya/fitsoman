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1pPr>
    <a:lvl2pPr marL="0" marR="0" indent="45720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2pPr>
    <a:lvl3pPr marL="0" marR="0" indent="91440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3pPr>
    <a:lvl4pPr marL="0" marR="0" indent="137160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4pPr>
    <a:lvl5pPr marL="0" marR="0" indent="182880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5pPr>
    <a:lvl6pPr marL="0" marR="0" indent="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6pPr>
    <a:lvl7pPr marL="0" marR="0" indent="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7pPr>
    <a:lvl8pPr marL="0" marR="0" indent="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8pPr>
    <a:lvl9pPr marL="0" marR="0" indent="0" algn="l" defTabSz="9144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 b="def" i="def"/>
      <a:tcStyle>
        <a:tcBdr/>
        <a:fill>
          <a:solidFill>
            <a:srgbClr val="E6F6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" name="Shape 8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Shape 1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POINT 2, introduce yourself + internship. Face on camera.</a:t>
            </a:r>
          </a:p>
          <a:p>
            <a: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Say you intern at FIT - FIRST Information Technology, building client apps, and HCMS is the client project you built (Django + Groq/OpenRouter LLM). No dates needed.</a:t>
            </a:r>
          </a:p>
          <a:p>
            <a: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Full wording: VIDEO_SCRIPT.md section 2.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3" name="Shape 1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3, the problem. Recruitment is e-mail/spreadsheet/wet-ink driven; no audit trail. See VIDEO_SCRIPT.md section 3.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Shape 1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4, tools. Left = the actual HCMS stack (Python/Django + Groq/OpenRouter). Right = the wider internship stack at FIT (just context, NOT used in HCMS). Be clear no LangChain here. See VIDEO_SCRIPT.md section 4.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" name="Shape 1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5, the data. Show a sample CV + a job posting on screen. Preprocessing = text extraction. See VIDEO_SCRIPT.md section 5.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0" name="Shape 2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6 (overview), the system as a 9-stage state machine, CV screening is stage 4. [SWITCH TO APP] after this, run the live platform for the rest. See VIDEO_SCRIPT.md section 6 intro.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Shape 2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6 (the core), open cv_screening_ai.py and walk _build_prompt, the 3 tiers, screen_candidate_cv, trigger_screening_async. This is the centerpiece, slow down. Full line-by-line narration: VIDEO_SCRIPT.md section 6.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8" name="Shape 2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6, tie the code to coursework. Course name only, NO weeks. LangChain/LangGraph from the course = future work, not used here. See VIDEO_SCRIPT.md section 6.9.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8" name="Shape 2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6 (lighter pass), the approval engine: derive whose turn it is, not store it. Show an offer's e-sign chain. See VIDEO_SCRIPT.md section 6.10.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9" name="Shape 2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7, [SWITCH TO APP] do this live: upload CV → score → rank → interview → proposal → offer e-sign. Interpret each result out loud. See VIDEO_SCRIPT.md section 7.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7" name="Shape 2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POINT 9, wrap up: what I built, what I learned (DA 3022 applied), limitations, future work, links. Thank the viewer. See VIDEO_SCRIPT.md section 9.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0813" cy="146843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399213" cy="175101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defRPr>
                <a:solidFill>
                  <a:srgbClr val="8B8B8B"/>
                </a:solidFill>
              </a:defRPr>
            </a:lvl1pPr>
            <a:lvl2pPr algn="ctr">
              <a:defRPr>
                <a:solidFill>
                  <a:srgbClr val="8B8B8B"/>
                </a:solidFill>
              </a:defRPr>
            </a:lvl2pPr>
            <a:lvl3pPr algn="ctr">
              <a:defRPr>
                <a:solidFill>
                  <a:srgbClr val="8B8B8B"/>
                </a:solidFill>
              </a:defRPr>
            </a:lvl3pPr>
            <a:lvl4pPr algn="ctr">
              <a:defRPr>
                <a:solidFill>
                  <a:srgbClr val="8B8B8B"/>
                </a:solidFill>
              </a:defRPr>
            </a:lvl4pPr>
            <a:lvl5pPr algn="ctr">
              <a:defRPr>
                <a:solidFill>
                  <a:srgbClr val="8B8B8B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7"/>
            <a:ext cx="8228013" cy="114141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0813" cy="1360488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2"/>
            <a:ext cx="7770813" cy="1498601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spcBef>
                <a:spcPts val="400"/>
              </a:spcBef>
              <a:defRPr sz="2000">
                <a:solidFill>
                  <a:srgbClr val="8B8B8B"/>
                </a:solidFill>
              </a:defRPr>
            </a:lvl1pPr>
            <a:lvl2pPr>
              <a:spcBef>
                <a:spcPts val="400"/>
              </a:spcBef>
              <a:defRPr sz="2000">
                <a:solidFill>
                  <a:srgbClr val="8B8B8B"/>
                </a:solidFill>
              </a:defRPr>
            </a:lvl2pPr>
            <a:lvl3pPr>
              <a:spcBef>
                <a:spcPts val="400"/>
              </a:spcBef>
              <a:defRPr sz="2000">
                <a:solidFill>
                  <a:srgbClr val="8B8B8B"/>
                </a:solidFill>
              </a:defRPr>
            </a:lvl3pPr>
            <a:lvl4pPr>
              <a:spcBef>
                <a:spcPts val="400"/>
              </a:spcBef>
              <a:defRPr sz="2000">
                <a:solidFill>
                  <a:srgbClr val="8B8B8B"/>
                </a:solidFill>
              </a:defRPr>
            </a:lvl4pPr>
            <a:lvl5pPr>
              <a:spcBef>
                <a:spcPts val="400"/>
              </a:spcBef>
              <a:defRPr sz="2000">
                <a:solidFill>
                  <a:srgbClr val="8B8B8B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7"/>
            <a:ext cx="8228013" cy="114141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7013" cy="452437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500"/>
              </a:spcBef>
              <a:defRPr sz="2800"/>
            </a:lvl1pPr>
            <a:lvl2pPr>
              <a:spcBef>
                <a:spcPts val="500"/>
              </a:spcBef>
              <a:defRPr sz="2800"/>
            </a:lvl2pPr>
            <a:lvl3pPr>
              <a:spcBef>
                <a:spcPts val="500"/>
              </a:spcBef>
              <a:defRPr sz="2800"/>
            </a:lvl3pPr>
            <a:lvl4pPr>
              <a:spcBef>
                <a:spcPts val="500"/>
              </a:spcBef>
              <a:defRPr sz="2800"/>
            </a:lvl4pPr>
            <a:lvl5pPr>
              <a:spcBef>
                <a:spcPts val="5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7"/>
            <a:ext cx="8228013" cy="114141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38600" cy="638176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spcBef>
                <a:spcPts val="400"/>
              </a:spcBef>
              <a:defRPr sz="2400"/>
            </a:lvl1pPr>
            <a:lvl2pPr>
              <a:spcBef>
                <a:spcPts val="400"/>
              </a:spcBef>
              <a:defRPr sz="2400"/>
            </a:lvl2pPr>
            <a:lvl3pPr>
              <a:spcBef>
                <a:spcPts val="400"/>
              </a:spcBef>
              <a:defRPr sz="2400"/>
            </a:lvl3pPr>
            <a:lvl4pPr>
              <a:spcBef>
                <a:spcPts val="400"/>
              </a:spcBef>
              <a:defRPr sz="2400"/>
            </a:lvl4pPr>
            <a:lvl5pPr>
              <a:spcBef>
                <a:spcPts val="400"/>
              </a:spcBef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xfrm>
            <a:off x="457200" y="274637"/>
            <a:ext cx="8228013" cy="114141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/>
          <p:nvPr>
            <p:ph type="title"/>
          </p:nvPr>
        </p:nvSpPr>
        <p:spPr>
          <a:xfrm>
            <a:off x="457200" y="273050"/>
            <a:ext cx="3006725" cy="1160463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2" name="Body Level One…"/>
          <p:cNvSpPr txBox="1"/>
          <p:nvPr>
            <p:ph type="body" sz="half" idx="1"/>
          </p:nvPr>
        </p:nvSpPr>
        <p:spPr>
          <a:xfrm>
            <a:off x="3575050" y="273050"/>
            <a:ext cx="5110163" cy="585152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200"/>
              </a:spcBef>
              <a:defRPr sz="1400"/>
            </a:lvl1pPr>
            <a:lvl2pPr>
              <a:spcBef>
                <a:spcPts val="200"/>
              </a:spcBef>
              <a:defRPr sz="1400"/>
            </a:lvl2pPr>
            <a:lvl3pPr>
              <a:spcBef>
                <a:spcPts val="200"/>
              </a:spcBef>
              <a:defRPr sz="1400"/>
            </a:lvl3pPr>
            <a:lvl4pPr>
              <a:spcBef>
                <a:spcPts val="200"/>
              </a:spcBef>
              <a:defRPr sz="1400"/>
            </a:lvl4pPr>
            <a:lvl5pPr>
              <a:spcBef>
                <a:spcPts val="200"/>
              </a:spcBef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Text"/>
          <p:cNvSpPr txBox="1"/>
          <p:nvPr>
            <p:ph type="title"/>
          </p:nvPr>
        </p:nvSpPr>
        <p:spPr>
          <a:xfrm>
            <a:off x="1792287" y="4800600"/>
            <a:ext cx="5484813" cy="565150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1" name="Body Level One…"/>
          <p:cNvSpPr txBox="1"/>
          <p:nvPr>
            <p:ph type="body" sz="half" idx="1"/>
          </p:nvPr>
        </p:nvSpPr>
        <p:spPr>
          <a:xfrm>
            <a:off x="1792287" y="612775"/>
            <a:ext cx="5484813" cy="4113213"/>
          </a:xfrm>
          <a:prstGeom prst="rect">
            <a:avLst/>
          </a:prstGeom>
        </p:spPr>
        <p:txBody>
          <a:bodyPr lIns="44999" tIns="44999" rIns="44999" bIns="44999">
            <a:normAutofit fontScale="100000" lnSpcReduction="0"/>
          </a:bodyPr>
          <a:lstStyle>
            <a:lvl1pPr>
              <a:spcBef>
                <a:spcPts val="200"/>
              </a:spcBef>
              <a:defRPr sz="1400"/>
            </a:lvl1pPr>
            <a:lvl2pPr>
              <a:spcBef>
                <a:spcPts val="200"/>
              </a:spcBef>
              <a:defRPr sz="1400"/>
            </a:lvl2pPr>
            <a:lvl3pPr>
              <a:spcBef>
                <a:spcPts val="200"/>
              </a:spcBef>
              <a:defRPr sz="1400"/>
            </a:lvl3pPr>
            <a:lvl4pPr>
              <a:spcBef>
                <a:spcPts val="200"/>
              </a:spcBef>
              <a:defRPr sz="1400"/>
            </a:lvl4pPr>
            <a:lvl5pPr>
              <a:spcBef>
                <a:spcPts val="200"/>
              </a:spcBef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6588" y="6413966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lnSpc>
                <a:spcPct val="100000"/>
              </a:lnSpc>
              <a:tabLst>
                <a:tab pos="914400" algn="l"/>
                <a:tab pos="1828800" algn="l"/>
              </a:tabLst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45720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91440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137160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1828800" algn="ctr" defTabSz="914400" rtl="0" latinLnBrk="0">
        <a:lnSpc>
          <a:spcPct val="8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342900" marR="0" indent="1143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342900" marR="0" indent="5715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342900" marR="0" indent="10287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342900" marR="0" indent="14859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342900" marR="0" indent="19431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2900" marR="0" indent="24003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42900" marR="0" indent="28575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342900" marR="0" indent="3314700" algn="l" defTabSz="914400" rtl="0" latinLnBrk="0">
        <a:lnSpc>
          <a:spcPct val="83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914400" algn="l"/>
          <a:tab pos="1828800" algn="l"/>
        </a:tabLst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38"/>
          <p:cNvGrpSpPr/>
          <p:nvPr/>
        </p:nvGrpSpPr>
        <p:grpSpPr>
          <a:xfrm>
            <a:off x="-1" y="-7750"/>
            <a:ext cx="12192001" cy="6858001"/>
            <a:chOff x="0" y="0"/>
            <a:chExt cx="12192000" cy="6858000"/>
          </a:xfrm>
        </p:grpSpPr>
        <p:sp>
          <p:nvSpPr>
            <p:cNvPr id="91" name="Shape 2"/>
            <p:cNvSpPr/>
            <p:nvPr/>
          </p:nvSpPr>
          <p:spPr>
            <a:xfrm>
              <a:off x="-1" y="146304"/>
              <a:ext cx="3413761" cy="6559296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00000"/>
                </a:lnSpc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" name="Shape 7"/>
            <p:cNvSpPr/>
            <p:nvPr/>
          </p:nvSpPr>
          <p:spPr>
            <a:xfrm>
              <a:off x="370310" y="4526279"/>
              <a:ext cx="2663406" cy="48769"/>
            </a:xfrm>
            <a:prstGeom prst="rect">
              <a:avLst/>
            </a:prstGeom>
            <a:solidFill>
              <a:srgbClr val="C8960C"/>
            </a:solidFill>
            <a:ln w="12700" cap="flat">
              <a:solidFill>
                <a:srgbClr val="C8960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00000"/>
                </a:lnSpc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grpSp>
          <p:nvGrpSpPr>
            <p:cNvPr id="96" name="Group 6"/>
            <p:cNvGrpSpPr/>
            <p:nvPr/>
          </p:nvGrpSpPr>
          <p:grpSpPr>
            <a:xfrm>
              <a:off x="0" y="-1"/>
              <a:ext cx="12192000" cy="6858001"/>
              <a:chOff x="0" y="0"/>
              <a:chExt cx="12192000" cy="6858000"/>
            </a:xfrm>
          </p:grpSpPr>
          <p:sp>
            <p:nvSpPr>
              <p:cNvPr id="93" name="Shape 0"/>
              <p:cNvSpPr/>
              <p:nvPr/>
            </p:nvSpPr>
            <p:spPr>
              <a:xfrm>
                <a:off x="0" y="-1"/>
                <a:ext cx="12192000" cy="146305"/>
              </a:xfrm>
              <a:prstGeom prst="rect">
                <a:avLst/>
              </a:prstGeom>
              <a:solidFill>
                <a:srgbClr val="C8960C"/>
              </a:solidFill>
              <a:ln w="12700" cap="flat">
                <a:solidFill>
                  <a:srgbClr val="C8960C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00000"/>
                  </a:lnSpc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4" name="Shape 1"/>
              <p:cNvSpPr/>
              <p:nvPr/>
            </p:nvSpPr>
            <p:spPr>
              <a:xfrm>
                <a:off x="0" y="6705600"/>
                <a:ext cx="12192000" cy="152400"/>
              </a:xfrm>
              <a:prstGeom prst="rect">
                <a:avLst/>
              </a:prstGeom>
              <a:solidFill>
                <a:srgbClr val="C8960C"/>
              </a:solidFill>
              <a:ln w="12700" cap="flat">
                <a:solidFill>
                  <a:srgbClr val="C8960C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00000"/>
                  </a:lnSpc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5" name="Shape 9"/>
              <p:cNvSpPr/>
              <p:nvPr/>
            </p:nvSpPr>
            <p:spPr>
              <a:xfrm>
                <a:off x="3315641" y="146304"/>
                <a:ext cx="8876359" cy="6559296"/>
              </a:xfrm>
              <a:prstGeom prst="rect">
                <a:avLst/>
              </a:prstGeom>
              <a:solidFill>
                <a:srgbClr val="003366"/>
              </a:solidFill>
              <a:ln w="12700" cap="flat">
                <a:solidFill>
                  <a:srgbClr val="00336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00000"/>
                  </a:lnSpc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grpSp>
          <p:nvGrpSpPr>
            <p:cNvPr id="99" name="Group 37"/>
            <p:cNvGrpSpPr/>
            <p:nvPr/>
          </p:nvGrpSpPr>
          <p:grpSpPr>
            <a:xfrm>
              <a:off x="3655695" y="426719"/>
              <a:ext cx="3048001" cy="463297"/>
              <a:chOff x="0" y="0"/>
              <a:chExt cx="3048000" cy="463295"/>
            </a:xfrm>
          </p:grpSpPr>
          <p:sp>
            <p:nvSpPr>
              <p:cNvPr id="97" name="Shape 10"/>
              <p:cNvSpPr/>
              <p:nvPr/>
            </p:nvSpPr>
            <p:spPr>
              <a:xfrm>
                <a:off x="0" y="0"/>
                <a:ext cx="3048000" cy="463296"/>
              </a:xfrm>
              <a:prstGeom prst="rect">
                <a:avLst/>
              </a:prstGeom>
              <a:solidFill>
                <a:srgbClr val="C8960C"/>
              </a:solidFill>
              <a:ln w="12700" cap="flat">
                <a:solidFill>
                  <a:srgbClr val="C8960C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lnSpc>
                    <a:spcPct val="100000"/>
                  </a:lnSpc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98" name="Text 11"/>
              <p:cNvSpPr txBox="1"/>
              <p:nvPr/>
            </p:nvSpPr>
            <p:spPr>
              <a:xfrm>
                <a:off x="138546" y="127071"/>
                <a:ext cx="2770910" cy="2091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00000"/>
                  </a:lnSpc>
                  <a:defRPr b="1" sz="160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INTERNSHIP</a:t>
                </a:r>
              </a:p>
            </p:txBody>
          </p:sp>
        </p:grpSp>
        <p:sp>
          <p:nvSpPr>
            <p:cNvPr id="100" name="Shape 13"/>
            <p:cNvSpPr/>
            <p:nvPr/>
          </p:nvSpPr>
          <p:spPr>
            <a:xfrm>
              <a:off x="3533775" y="2687512"/>
              <a:ext cx="8168641" cy="50269"/>
            </a:xfrm>
            <a:prstGeom prst="rect">
              <a:avLst/>
            </a:prstGeom>
            <a:solidFill>
              <a:srgbClr val="C8960C"/>
            </a:solidFill>
            <a:ln w="12700" cap="flat">
              <a:solidFill>
                <a:srgbClr val="C8960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00000"/>
                </a:lnSpc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grpSp>
          <p:nvGrpSpPr>
            <p:cNvPr id="104" name="Group 30"/>
            <p:cNvGrpSpPr/>
            <p:nvPr/>
          </p:nvGrpSpPr>
          <p:grpSpPr>
            <a:xfrm>
              <a:off x="89888" y="445007"/>
              <a:ext cx="3121423" cy="5200707"/>
              <a:chOff x="0" y="0"/>
              <a:chExt cx="3121422" cy="5200705"/>
            </a:xfrm>
          </p:grpSpPr>
          <p:sp>
            <p:nvSpPr>
              <p:cNvPr id="101" name="Text 6"/>
              <p:cNvSpPr txBox="1"/>
              <p:nvPr/>
            </p:nvSpPr>
            <p:spPr>
              <a:xfrm>
                <a:off x="0" y="3594296"/>
                <a:ext cx="3121423" cy="25820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100000"/>
                  </a:lnSpc>
                  <a:defRPr b="1" sz="130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Indian Institute of Technology</a:t>
                </a:r>
                <a:r>
                  <a:rPr b="0">
                    <a:solidFill>
                      <a:srgbClr val="000000"/>
                    </a:solidFill>
                  </a:rPr>
                  <a:t> </a:t>
                </a:r>
                <a:r>
                  <a:t>Guwahati</a:t>
                </a:r>
              </a:p>
            </p:txBody>
          </p:sp>
          <p:sp>
            <p:nvSpPr>
              <p:cNvPr id="102" name="Text 8"/>
              <p:cNvSpPr txBox="1"/>
              <p:nvPr/>
            </p:nvSpPr>
            <p:spPr>
              <a:xfrm>
                <a:off x="0" y="4761900"/>
                <a:ext cx="3121423" cy="43880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100000"/>
                  </a:lnSpc>
                  <a:defRPr sz="120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BSc. (Hons.) Data Science &amp; Artificial Intelligence</a:t>
                </a:r>
              </a:p>
              <a:p>
                <a:pPr algn="ctr">
                  <a:lnSpc>
                    <a:spcPct val="100000"/>
                  </a:lnSpc>
                  <a:defRPr sz="120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Online Degree Programme</a:t>
                </a:r>
              </a:p>
            </p:txBody>
          </p:sp>
          <p:pic>
            <p:nvPicPr>
              <p:cNvPr id="103" name="Picture 31" descr="Picture 31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42880" y="0"/>
                <a:ext cx="3035663" cy="298123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122" name="Group 36"/>
          <p:cNvGrpSpPr/>
          <p:nvPr/>
        </p:nvGrpSpPr>
        <p:grpSpPr>
          <a:xfrm>
            <a:off x="3794240" y="3083110"/>
            <a:ext cx="8107682" cy="2587577"/>
            <a:chOff x="0" y="0"/>
            <a:chExt cx="8107680" cy="2587576"/>
          </a:xfrm>
        </p:grpSpPr>
        <p:grpSp>
          <p:nvGrpSpPr>
            <p:cNvPr id="113" name="Group 5"/>
            <p:cNvGrpSpPr/>
            <p:nvPr/>
          </p:nvGrpSpPr>
          <p:grpSpPr>
            <a:xfrm>
              <a:off x="0" y="0"/>
              <a:ext cx="2316481" cy="2587576"/>
              <a:chOff x="0" y="0"/>
              <a:chExt cx="2316480" cy="2587575"/>
            </a:xfrm>
          </p:grpSpPr>
          <p:sp>
            <p:nvSpPr>
              <p:cNvPr id="106" name="Text 14"/>
              <p:cNvSpPr txBox="1"/>
              <p:nvPr/>
            </p:nvSpPr>
            <p:spPr>
              <a:xfrm>
                <a:off x="0" y="0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Student Name :</a:t>
                </a:r>
              </a:p>
            </p:txBody>
          </p:sp>
          <p:sp>
            <p:nvSpPr>
              <p:cNvPr id="107" name="Text 16"/>
              <p:cNvSpPr txBox="1"/>
              <p:nvPr/>
            </p:nvSpPr>
            <p:spPr>
              <a:xfrm>
                <a:off x="0" y="390988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Student ID :</a:t>
                </a:r>
              </a:p>
            </p:txBody>
          </p:sp>
          <p:sp>
            <p:nvSpPr>
              <p:cNvPr id="108" name="Text 18"/>
              <p:cNvSpPr txBox="1"/>
              <p:nvPr/>
            </p:nvSpPr>
            <p:spPr>
              <a:xfrm>
                <a:off x="0" y="1172964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Programme :</a:t>
                </a:r>
              </a:p>
            </p:txBody>
          </p:sp>
          <p:sp>
            <p:nvSpPr>
              <p:cNvPr id="109" name="Text 20"/>
              <p:cNvSpPr txBox="1"/>
              <p:nvPr/>
            </p:nvSpPr>
            <p:spPr>
              <a:xfrm>
                <a:off x="0" y="1563952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Course Code :</a:t>
                </a:r>
              </a:p>
            </p:txBody>
          </p:sp>
          <p:sp>
            <p:nvSpPr>
              <p:cNvPr id="110" name="Text 22"/>
              <p:cNvSpPr txBox="1"/>
              <p:nvPr/>
            </p:nvSpPr>
            <p:spPr>
              <a:xfrm>
                <a:off x="0" y="1954939"/>
                <a:ext cx="2316481" cy="2416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Course Name :</a:t>
                </a:r>
              </a:p>
            </p:txBody>
          </p:sp>
          <p:sp>
            <p:nvSpPr>
              <p:cNvPr id="111" name="Text 24"/>
              <p:cNvSpPr txBox="1"/>
              <p:nvPr/>
            </p:nvSpPr>
            <p:spPr>
              <a:xfrm>
                <a:off x="0" y="2345928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Trimester :</a:t>
                </a:r>
              </a:p>
            </p:txBody>
          </p:sp>
          <p:sp>
            <p:nvSpPr>
              <p:cNvPr id="112" name="Text 16"/>
              <p:cNvSpPr txBox="1"/>
              <p:nvPr/>
            </p:nvSpPr>
            <p:spPr>
              <a:xfrm>
                <a:off x="0" y="781976"/>
                <a:ext cx="231648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 b="1">
                    <a:solidFill>
                      <a:srgbClr val="C8960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Email ID :</a:t>
                </a:r>
              </a:p>
            </p:txBody>
          </p:sp>
        </p:grpSp>
        <p:grpSp>
          <p:nvGrpSpPr>
            <p:cNvPr id="121" name="Group 4"/>
            <p:cNvGrpSpPr/>
            <p:nvPr/>
          </p:nvGrpSpPr>
          <p:grpSpPr>
            <a:xfrm>
              <a:off x="2377439" y="1"/>
              <a:ext cx="5730242" cy="2587576"/>
              <a:chOff x="0" y="0"/>
              <a:chExt cx="5730240" cy="2587575"/>
            </a:xfrm>
          </p:grpSpPr>
          <p:sp>
            <p:nvSpPr>
              <p:cNvPr id="114" name="Text 15"/>
              <p:cNvSpPr txBox="1"/>
              <p:nvPr/>
            </p:nvSpPr>
            <p:spPr>
              <a:xfrm>
                <a:off x="0" y="0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Bendi Karthikeya</a:t>
                </a:r>
              </a:p>
            </p:txBody>
          </p:sp>
          <p:sp>
            <p:nvSpPr>
              <p:cNvPr id="115" name="Text 17"/>
              <p:cNvSpPr txBox="1"/>
              <p:nvPr/>
            </p:nvSpPr>
            <p:spPr>
              <a:xfrm>
                <a:off x="0" y="390988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23035010310</a:t>
                </a:r>
              </a:p>
            </p:txBody>
          </p:sp>
          <p:sp>
            <p:nvSpPr>
              <p:cNvPr id="116" name="Text 19"/>
              <p:cNvSpPr txBox="1"/>
              <p:nvPr/>
            </p:nvSpPr>
            <p:spPr>
              <a:xfrm>
                <a:off x="0" y="1172964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BSc. (Hons.) Data Science &amp; AI</a:t>
                </a:r>
              </a:p>
            </p:txBody>
          </p:sp>
          <p:sp>
            <p:nvSpPr>
              <p:cNvPr id="117" name="Text 21"/>
              <p:cNvSpPr txBox="1"/>
              <p:nvPr/>
            </p:nvSpPr>
            <p:spPr>
              <a:xfrm>
                <a:off x="0" y="1563952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DA 378</a:t>
                </a:r>
              </a:p>
            </p:txBody>
          </p:sp>
          <p:sp>
            <p:nvSpPr>
              <p:cNvPr id="118" name="Text 23"/>
              <p:cNvSpPr txBox="1"/>
              <p:nvPr/>
            </p:nvSpPr>
            <p:spPr>
              <a:xfrm>
                <a:off x="0" y="1954939"/>
                <a:ext cx="5730241" cy="2416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Internship-II</a:t>
                </a:r>
              </a:p>
            </p:txBody>
          </p:sp>
          <p:sp>
            <p:nvSpPr>
              <p:cNvPr id="119" name="Text 25"/>
              <p:cNvSpPr txBox="1"/>
              <p:nvPr/>
            </p:nvSpPr>
            <p:spPr>
              <a:xfrm>
                <a:off x="0" y="2345928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IX</a:t>
                </a:r>
              </a:p>
            </p:txBody>
          </p:sp>
          <p:sp>
            <p:nvSpPr>
              <p:cNvPr id="120" name="Text 17"/>
              <p:cNvSpPr txBox="1"/>
              <p:nvPr/>
            </p:nvSpPr>
            <p:spPr>
              <a:xfrm>
                <a:off x="0" y="781976"/>
                <a:ext cx="5730241" cy="2416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>
                  <a:lnSpc>
                    <a:spcPct val="100000"/>
                  </a:lnSpc>
                  <a:defRPr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k.bendi@op.iitg.ac.in</a:t>
                </a:r>
              </a:p>
            </p:txBody>
          </p:sp>
        </p:grpSp>
      </p:grpSp>
      <p:sp>
        <p:nvSpPr>
          <p:cNvPr id="123" name="Text 12"/>
          <p:cNvSpPr txBox="1"/>
          <p:nvPr/>
        </p:nvSpPr>
        <p:spPr>
          <a:xfrm>
            <a:off x="3606691" y="1346540"/>
            <a:ext cx="8412480" cy="146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00000"/>
              </a:lnSpc>
              <a:defRPr b="1" sz="3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InsightPulse: AI-Powered Multi-Channel Survey &amp; Unified Analytics Platform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6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7" name="2  ·  INTRODUCTION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2  ·  INTRODUCTION</a:t>
            </a:r>
          </a:p>
        </p:txBody>
      </p:sp>
      <p:sp>
        <p:nvSpPr>
          <p:cNvPr id="128" name="Introduction &amp; Internship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Introduction &amp; Internship</a:t>
            </a:r>
          </a:p>
        </p:txBody>
      </p:sp>
      <p:sp>
        <p:nvSpPr>
          <p:cNvPr id="129" name="•  Who I am.…"/>
          <p:cNvSpPr txBox="1"/>
          <p:nvPr/>
        </p:nvSpPr>
        <p:spPr>
          <a:xfrm>
            <a:off x="684762" y="1600200"/>
            <a:ext cx="10882801" cy="3188800"/>
          </a:xfrm>
          <a:prstGeom prst="rect">
            <a:avLst/>
          </a:prstGeom>
          <a:solidFill>
            <a:srgbClr val="FAFCFE"/>
          </a:solidFill>
          <a:ln w="19050">
            <a:solidFill>
              <a:srgbClr val="E2E8F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0" tIns="365760" rIns="365760" bIns="36576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Who I am.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Bendi Karthikeya, BSc (Hons) Data Science &amp; AI, IIT Guwahati (Online). This is my Internship-II (DA 378) submission.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Where I intern.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Full Stack Generative AI Intern at FIT - FIRST Information Technology (Muscat, Oman; remote), building production-grade applications for the company's clients.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This project.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InsightPulse is the client project I built at FIT: an AI-powered multi-channel survey platform collecting feedback via Voice (VAPI), WhatsApp, Web, and Email with real-time unified analytics.</a:t>
            </a:r>
          </a:p>
        </p:txBody>
      </p:sp>
      <p:sp>
        <p:nvSpPr>
          <p:cNvPr id="130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InsightPulse  ·  Bendi Karthikeya</a:t>
            </a:r>
          </a:p>
        </p:txBody>
      </p:sp>
      <p:sp>
        <p:nvSpPr>
          <p:cNvPr id="131" name="2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6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7" name="3  ·  THE PROBLEM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3  ·  THE PROBLEM</a:t>
            </a:r>
          </a:p>
        </p:txBody>
      </p:sp>
      <p:sp>
        <p:nvSpPr>
          <p:cNvPr id="138" name="The Problem &amp; Why It Matters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The Problem &amp; Why It Matters</a:t>
            </a:r>
          </a:p>
        </p:txBody>
      </p:sp>
      <p:sp>
        <p:nvSpPr>
          <p:cNvPr id="139" name="•  Hiring is process-heavy.…"/>
          <p:cNvSpPr txBox="1"/>
          <p:nvPr/>
        </p:nvSpPr>
        <p:spPr>
          <a:xfrm>
            <a:off x="684762" y="1554162"/>
            <a:ext cx="10882801" cy="3557101"/>
          </a:xfrm>
          <a:prstGeom prst="rect">
            <a:avLst/>
          </a:prstGeom>
          <a:solidFill>
            <a:srgbClr val="FAFCFE"/>
          </a:solidFill>
          <a:ln w="19050">
            <a:solidFill>
              <a:srgbClr val="E2E8F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0" tIns="365760" rIns="365760" bIns="36576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Feedback collection is fragmented.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Surveys are distributed across separate, disconnected systems (email, SMS, web, voice) with no unified data structure or central storage.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Voice &amp; WhatsApp data is lost.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Voice conversations are not transcribed or analyzed, and messaging is managed manually, leading to delayed feedback loops.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Analysis lacks depth and speed.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Manual categorization of user comments is slow, subjective, and unable to extract emotional context or action items in real-time.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The goal.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A unified platform where web, WhatsApp, and AI voice surveys dump into one database, with real-time analytics and LLM-powered emotion scoring.</a:t>
            </a:r>
          </a:p>
        </p:txBody>
      </p:sp>
      <p:sp>
        <p:nvSpPr>
          <p:cNvPr id="140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InsightPulse  ·  Bendi Karthikeya</a:t>
            </a:r>
          </a:p>
        </p:txBody>
      </p:sp>
      <p:sp>
        <p:nvSpPr>
          <p:cNvPr id="141" name="3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6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7" name="4  ·  TOOLS &amp; TECHNOLOGIES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4  ·  TOOLS &amp; TECHNOLOGIES</a:t>
            </a:r>
          </a:p>
        </p:txBody>
      </p:sp>
      <p:sp>
        <p:nvSpPr>
          <p:cNvPr id="148" name="Tools &amp; Technologies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Tools &amp; Technologies</a:t>
            </a:r>
          </a:p>
        </p:txBody>
      </p:sp>
      <p:sp>
        <p:nvSpPr>
          <p:cNvPr id="149" name="Rectangle"/>
          <p:cNvSpPr/>
          <p:nvPr/>
        </p:nvSpPr>
        <p:spPr>
          <a:xfrm>
            <a:off x="549275" y="1554162"/>
            <a:ext cx="5486400" cy="4297363"/>
          </a:xfrm>
          <a:prstGeom prst="rect">
            <a:avLst/>
          </a:prstGeom>
          <a:solidFill>
            <a:srgbClr val="EEF2F9"/>
          </a:solidFill>
          <a:ln w="12600">
            <a:solidFill>
              <a:srgbClr val="1A6DB5"/>
            </a:solidFill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50" name="This project, HCMS Recruitment Suite"/>
          <p:cNvSpPr txBox="1"/>
          <p:nvPr/>
        </p:nvSpPr>
        <p:spPr>
          <a:xfrm>
            <a:off x="822875" y="1692275"/>
            <a:ext cx="4939200" cy="34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 lvl="1">
              <a:spcBef>
                <a:spcPts val="0"/>
              </a:spcBef>
              <a:spcAft>
                <a:spcPts val="400"/>
              </a:spcAft>
              <a:defRPr/>
            </a:pPr>
            <a:r>
              <a:rPr sz="1300">
                <a:solidFill>
                  <a:srgbClr val="475569"/>
                </a:solidFill>
                <a:latin typeface="Arial"/>
              </a:rPr>
              <a:t>This project, InsightPulse</a:t>
            </a:r>
          </a:p>
        </p:txBody>
      </p:sp>
      <p:sp>
        <p:nvSpPr>
          <p:cNvPr id="151" name="•  Python · Django (backend + web app)…"/>
          <p:cNvSpPr txBox="1"/>
          <p:nvPr/>
        </p:nvSpPr>
        <p:spPr>
          <a:xfrm>
            <a:off x="822875" y="2193925"/>
            <a:ext cx="4939200" cy="2287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React 18 · TypeScript (Frontend layout)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Node.js · Express (Backend API server)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Neon Serverless PostgreSQL (Database storage)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Drizzle ORM (Database query schema)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VAPI Voice AI &amp; Meta WhatsApp Cloud API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b="1" sz="1400">
                <a:solidFill>
                  <a:srgbClr val="1A2D5A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OpenRouter (DeepSeek/Gemini fallback APIs)</a:t>
            </a:r>
          </a:p>
        </p:txBody>
      </p:sp>
      <p:sp>
        <p:nvSpPr>
          <p:cNvPr id="152" name="Rectangle"/>
          <p:cNvSpPr/>
          <p:nvPr/>
        </p:nvSpPr>
        <p:spPr>
          <a:xfrm>
            <a:off x="6172200" y="1554162"/>
            <a:ext cx="5486400" cy="4297363"/>
          </a:xfrm>
          <a:prstGeom prst="rect">
            <a:avLst/>
          </a:prstGeom>
          <a:solidFill>
            <a:srgbClr val="F3EAD6"/>
          </a:solidFill>
          <a:ln w="12600">
            <a:solidFill>
              <a:srgbClr val="C9A24C"/>
            </a:solidFill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53" name="Across the internship, FIT (context)"/>
          <p:cNvSpPr txBox="1"/>
          <p:nvPr/>
        </p:nvSpPr>
        <p:spPr>
          <a:xfrm>
            <a:off x="6445800" y="1692275"/>
            <a:ext cx="4939201" cy="34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b="1" sz="1500">
                <a:solidFill>
                  <a:srgbClr val="8A6D1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Core Features Highlight</a:t>
            </a:r>
          </a:p>
        </p:txBody>
      </p:sp>
      <p:sp>
        <p:nvSpPr>
          <p:cNvPr id="154" name="•  React · TypeScript · Node.js · Express…"/>
          <p:cNvSpPr txBox="1"/>
          <p:nvPr/>
        </p:nvSpPr>
        <p:spPr>
          <a:xfrm>
            <a:off x="6445800" y="2193925"/>
            <a:ext cx="4939201" cy="170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Real-time TanStack Query dashboard (30s poll)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Plutchik's 8-Emotion LLM scoring model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Zoho CRM OAuth contacts integration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Dynamic question builder &amp; localized translation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Automated department NPS scoring &amp; action plans</a:t>
            </a:r>
          </a:p>
        </p:txBody>
      </p:sp>
      <p:sp>
        <p:nvSpPr>
          <p:cNvPr id="155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InsightPulse  ·  Bendi Karthikeya</a:t>
            </a:r>
          </a:p>
        </p:txBody>
      </p:sp>
      <p:sp>
        <p:nvSpPr>
          <p:cNvPr id="156" name="4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1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2" name="5  ·  THE DATA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5  ·  THE DATA</a:t>
            </a:r>
          </a:p>
        </p:txBody>
      </p:sp>
      <p:sp>
        <p:nvSpPr>
          <p:cNvPr id="163" name="The Data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System Ingested Input</a:t>
            </a:r>
          </a:p>
        </p:txBody>
      </p:sp>
      <p:sp>
        <p:nvSpPr>
          <p:cNvPr id="164" name="•  Not a fixed dataset.…"/>
          <p:cNvSpPr txBox="1"/>
          <p:nvPr/>
        </p:nvSpPr>
        <p:spPr>
          <a:xfrm>
            <a:off x="684762" y="1692275"/>
            <a:ext cx="10882801" cy="2604600"/>
          </a:xfrm>
          <a:prstGeom prst="rect">
            <a:avLst/>
          </a:prstGeom>
          <a:solidFill>
            <a:srgbClr val="FAFCFE"/>
          </a:solidFill>
          <a:ln w="19050">
            <a:solidFill>
              <a:srgbClr val="E2E8F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0" tIns="365760" rIns="365760" bIns="36576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Real-time feedback stream.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The system does not process static datasets, but handles real-time feedback submissions from active channels.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Quantitative &amp; Qualitative inputs.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Captures both numerical scores (CSAT 1-5, NPS 0-10, EVI 0-100) and open-ended customer comments.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9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Asynchronous normalization.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7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Numerical feedback and raw transcripts are structured dynamically. Raw texts are queued for OpenRouter emotion extraction, then saved in SQL.</a:t>
            </a:r>
          </a:p>
        </p:txBody>
      </p:sp>
      <p:sp>
        <p:nvSpPr>
          <p:cNvPr id="165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InsightPulse  ·  Bendi Karthikeya</a:t>
            </a:r>
          </a:p>
        </p:txBody>
      </p:sp>
      <p:sp>
        <p:nvSpPr>
          <p:cNvPr id="166" name="5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1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2" name="6  ·  HOW IT WORKS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6  ·  HOW IT WORKS</a:t>
            </a:r>
          </a:p>
        </p:txBody>
      </p:sp>
      <p:sp>
        <p:nvSpPr>
          <p:cNvPr id="173" name="How It Works, The Hiring Funnel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How It Works: Data Pipeline</a:t>
            </a:r>
          </a:p>
        </p:txBody>
      </p:sp>
      <p:sp>
        <p:nvSpPr>
          <p:cNvPr id="174" name="Django modular monolith; every transition records an audit row"/>
          <p:cNvSpPr txBox="1"/>
          <p:nvPr/>
        </p:nvSpPr>
        <p:spPr>
          <a:xfrm>
            <a:off x="565699" y="933450"/>
            <a:ext cx="11065364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300" b="0">
                <a:solidFill>
                  <a:srgbClr val="E2E8F0"/>
                </a:solidFill>
                <a:latin typeface="Trebuchet MS"/>
              </a:defRPr>
            </a:pPr>
            <a:r>
              <a:t>Multi-channel ingestion with unified analytical storage</a:t>
            </a:r>
          </a:p>
        </p:txBody>
      </p:sp>
      <p:sp>
        <p:nvSpPr>
          <p:cNvPr id="206" name="Status changes only through engine functions, never ad-hoc edits, so the whole funnel is replayable for audit."/>
          <p:cNvSpPr txBox="1"/>
          <p:nvPr/>
        </p:nvSpPr>
        <p:spPr>
          <a:xfrm>
            <a:off x="685800" y="1828800"/>
            <a:ext cx="10881360" cy="3840480"/>
          </a:xfrm>
          <a:prstGeom prst="rect">
            <a:avLst/>
          </a:prstGeom>
          <a:solidFill>
            <a:srgbClr val="FAFCFE"/>
          </a:solidFill>
          <a:ln w="19050">
            <a:solidFill>
              <a:srgbClr val="E2E8F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0" tIns="365760" rIns="365760" bIns="365760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4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 lvl="1">
              <a:spcBef>
                <a:spcPts val="0"/>
              </a:spcBef>
              <a:spcAft>
                <a:spcPts val="400"/>
              </a:spcAft>
              <a:defRPr/>
            </a:pPr>
            <a:r>
              <a:rPr sz="1300">
                <a:solidFill>
                  <a:srgbClr val="475569"/>
                </a:solidFill>
                <a:latin typeface="Arial"/>
              </a:rPr>
              <a:t>Feedback flows from channels -&gt; webhook / API -&gt; OpenRouter analysis -&gt; DB save -&gt; TanStack Query UI updates.</a:t>
            </a:r>
          </a:p>
        </p:txBody>
      </p:sp>
      <p:sp>
        <p:nvSpPr>
          <p:cNvPr id="207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InsightPulse  ·  Bendi Karthikeya</a:t>
            </a:r>
          </a:p>
        </p:txBody>
      </p:sp>
      <p:sp>
        <p:nvSpPr>
          <p:cNvPr id="208" name="6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3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4" name="6  ·  CODE WALKTHROUGH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6  ·  CODE WALKTHROUGH</a:t>
            </a:r>
          </a:p>
        </p:txBody>
      </p:sp>
      <p:sp>
        <p:nvSpPr>
          <p:cNvPr id="215" name="AI CV Screening Engine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AI &amp; Voice AI Integration</a:t>
            </a:r>
          </a:p>
        </p:txBody>
      </p:sp>
      <p:sp>
        <p:nvSpPr>
          <p:cNvPr id="216" name="recruitment/cv_screening_ai.py, a three-tier fallback, so it never hard-fails"/>
          <p:cNvSpPr txBox="1"/>
          <p:nvPr/>
        </p:nvSpPr>
        <p:spPr>
          <a:xfrm>
            <a:off x="565699" y="933450"/>
            <a:ext cx="11065364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300" b="0">
                <a:solidFill>
                  <a:srgbClr val="E2E8F0"/>
                </a:solidFill>
                <a:latin typeface="Trebuchet MS"/>
              </a:defRPr>
            </a:pPr>
            <a:r>
              <a:t>Voice calls via VAPI, text analysis via OpenRouter (DeepSeek/Gemini failover)</a:t>
            </a:r>
          </a:p>
        </p:txBody>
      </p:sp>
      <p:sp>
        <p:nvSpPr>
          <p:cNvPr id="228" name="•  Engineered prompt, _build_prompt().…"/>
          <p:cNvSpPr txBox="1"/>
          <p:nvPr/>
        </p:nvSpPr>
        <p:spPr>
          <a:xfrm>
            <a:off x="684762" y="2835275"/>
            <a:ext cx="10882801" cy="2770101"/>
          </a:xfrm>
          <a:prstGeom prst="rect">
            <a:avLst/>
          </a:prstGeom>
          <a:solidFill>
            <a:srgbClr val="FAFCFE"/>
          </a:solidFill>
          <a:ln w="19050">
            <a:solidFill>
              <a:srgbClr val="E2E8F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0" tIns="365760" rIns="365760" bIns="36576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Structured VAPI Callbacks.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VAPI Voice assistant calls customers, asks localized (EN/AR) questions, captures voice responses, extracts structured survey scores, and calls the webhook.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OpenRouter LLM Pipeline.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Web and WhatsApp survey comments are sent to OpenRouter. Strict system prompts enforce JSON mode and a temperature of 0.3 ensures consistent evaluation.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Sentiment &amp; Plutchik Emotions.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LLM rates 8 Plutchik emotions (0-10), extracts sentiment, EVI score, category/theme, and generates real-time recommendations and action items.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Resilient Failover Chain.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Primary model is DeepSeek-Chat. If the API fails or returns invalid JSON, it transparently falls back to Gemini-2.0-Flash on OpenRouter.</a:t>
            </a:r>
          </a:p>
        </p:txBody>
      </p:sp>
      <p:sp>
        <p:nvSpPr>
          <p:cNvPr id="229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InsightPulse  ·  Bendi Karthikeya</a:t>
            </a:r>
          </a:p>
        </p:txBody>
      </p:sp>
      <p:sp>
        <p:nvSpPr>
          <p:cNvPr id="230" name="7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35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36" name="6  ·  ACADEMIC FOUNDATION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6  ·  ACADEMIC FOUNDATION</a:t>
            </a:r>
          </a:p>
        </p:txBody>
      </p:sp>
      <p:sp>
        <p:nvSpPr>
          <p:cNvPr id="237" name="Where I Learned This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Where I Learned This</a:t>
            </a:r>
          </a:p>
        </p:txBody>
      </p:sp>
      <p:sp>
        <p:nvSpPr>
          <p:cNvPr id="238" name="Course: Large Language Model Application Engineering (DA 3022)"/>
          <p:cNvSpPr txBox="1"/>
          <p:nvPr/>
        </p:nvSpPr>
        <p:spPr>
          <a:xfrm>
            <a:off x="565699" y="933450"/>
            <a:ext cx="11065364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300" b="0">
                <a:solidFill>
                  <a:srgbClr val="E2E8F0"/>
                </a:solidFill>
                <a:latin typeface="Trebuchet MS"/>
              </a:defRPr>
            </a:pPr>
            <a:r>
              <a:t>Course: Large Language Model Application Engineering (DA 3022)</a:t>
            </a:r>
          </a:p>
        </p:txBody>
      </p:sp>
      <p:sp>
        <p:nvSpPr>
          <p:cNvPr id="239" name="Rectangle"/>
          <p:cNvSpPr/>
          <p:nvPr/>
        </p:nvSpPr>
        <p:spPr>
          <a:xfrm>
            <a:off x="549275" y="1554162"/>
            <a:ext cx="4205288" cy="4297363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0" name="Large Language Model Application Engineering"/>
          <p:cNvSpPr txBox="1"/>
          <p:nvPr/>
        </p:nvSpPr>
        <p:spPr>
          <a:xfrm>
            <a:off x="822874" y="1782762"/>
            <a:ext cx="3658089" cy="67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</a:tabLst>
              <a:defRPr b="1" sz="1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Large Language Model Application Engineering</a:t>
            </a:r>
          </a:p>
        </p:txBody>
      </p:sp>
      <p:sp>
        <p:nvSpPr>
          <p:cNvPr id="241" name="Course DA 3022"/>
          <p:cNvSpPr txBox="1"/>
          <p:nvPr/>
        </p:nvSpPr>
        <p:spPr>
          <a:xfrm>
            <a:off x="822874" y="2743200"/>
            <a:ext cx="3658089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</a:tabLst>
              <a:defRPr b="1" sz="13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Course DA 3022</a:t>
            </a:r>
          </a:p>
        </p:txBody>
      </p:sp>
      <p:sp>
        <p:nvSpPr>
          <p:cNvPr id="242" name="•  Prompt engineering…"/>
          <p:cNvSpPr txBox="1"/>
          <p:nvPr/>
        </p:nvSpPr>
        <p:spPr>
          <a:xfrm>
            <a:off x="822874" y="3200400"/>
            <a:ext cx="3658089" cy="1321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Prompt engineering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Structured outputs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Chain-of-thought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</a:tabLst>
              <a:defRPr sz="14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Guardrails &amp; reliability</a:t>
            </a:r>
          </a:p>
        </p:txBody>
      </p:sp>
      <p:sp>
        <p:nvSpPr>
          <p:cNvPr id="243" name="Concept  →  where it is in my code"/>
          <p:cNvSpPr txBox="1"/>
          <p:nvPr/>
        </p:nvSpPr>
        <p:spPr>
          <a:xfrm>
            <a:off x="5074199" y="1481137"/>
            <a:ext cx="6585439" cy="333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400">
                <a:solidFill>
                  <a:srgbClr val="1A2D5A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 lvl="1">
              <a:spcBef>
                <a:spcPts val="0"/>
              </a:spcBef>
              <a:spcAft>
                <a:spcPts val="400"/>
              </a:spcAft>
              <a:defRPr/>
            </a:pPr>
            <a:r>
              <a:rPr sz="1300">
                <a:solidFill>
                  <a:srgbClr val="475569"/>
                </a:solidFill>
                <a:latin typeface="Arial"/>
              </a:rPr>
              <a:t>Concept  →  where it is in my code</a:t>
            </a:r>
          </a:p>
        </p:txBody>
      </p:sp>
      <p:sp>
        <p:nvSpPr>
          <p:cNvPr id="244" name="•  Prompt anatomy…"/>
          <p:cNvSpPr txBox="1"/>
          <p:nvPr/>
        </p:nvSpPr>
        <p:spPr>
          <a:xfrm>
            <a:off x="5120640" y="1645920"/>
            <a:ext cx="649224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Prompt anatomy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role + context + 8-emotion rubric + instructions + JSON schema → buildAnalysisPrompt()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Chain-of-thought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the STEP 1 parse -&gt; 2 categorise -&gt; 3 evaluate emotions -&gt; 4 recommend actions protocol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Structured output / JSON mode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response_format = {"type": "json_object"} + Zod validation schema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Reliability over creativity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temperature 0.3 for reproducible sentiment scores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b="1" sz="15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Guardrails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13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'Return ONLY valid JSON', 'do not add markdown formatting or extra text'</a:t>
            </a:r>
          </a:p>
        </p:txBody>
      </p:sp>
      <p:sp>
        <p:nvSpPr>
          <p:cNvPr id="245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InsightPulse  ·  Bendi Karthikeya</a:t>
            </a:r>
          </a:p>
        </p:txBody>
      </p:sp>
      <p:sp>
        <p:nvSpPr>
          <p:cNvPr id="246" name="8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1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2" name="6  ·  CODE WALKTHROUGH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6  ·  CODE WALKTHROUGH</a:t>
            </a:r>
          </a:p>
        </p:txBody>
      </p:sp>
      <p:sp>
        <p:nvSpPr>
          <p:cNvPr id="253" name="Sequential Approval Engine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CRM Integration &amp; Custom Flows</a:t>
            </a:r>
          </a:p>
        </p:txBody>
      </p:sp>
      <p:sp>
        <p:nvSpPr>
          <p:cNvPr id="254" name="The other core idea, and real e-signatures"/>
          <p:cNvSpPr txBox="1"/>
          <p:nvPr/>
        </p:nvSpPr>
        <p:spPr>
          <a:xfrm>
            <a:off x="565699" y="933450"/>
            <a:ext cx="11065364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300" b="0">
                <a:solidFill>
                  <a:srgbClr val="E2E8F0"/>
                </a:solidFill>
                <a:latin typeface="Trebuchet MS"/>
              </a:defRPr>
            </a:pPr>
            <a:r>
              <a:t>Zoho CRM OAuth, WhatsApp Sequences &amp; Dept NPS</a:t>
            </a:r>
          </a:p>
        </p:txBody>
      </p:sp>
      <p:sp>
        <p:nvSpPr>
          <p:cNvPr id="255" name="•  Chains are ordered step rows.…"/>
          <p:cNvSpPr txBox="1"/>
          <p:nvPr/>
        </p:nvSpPr>
        <p:spPr>
          <a:xfrm>
            <a:off x="685800" y="1645920"/>
            <a:ext cx="10881360" cy="4114800"/>
          </a:xfrm>
          <a:prstGeom prst="rect">
            <a:avLst/>
          </a:prstGeom>
          <a:solidFill>
            <a:srgbClr val="FAFCFE"/>
          </a:solidFill>
          <a:ln w="19050">
            <a:solidFill>
              <a:srgbClr val="E2E8F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0" tIns="365760" rIns="365760" bIns="36576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7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Zoho CRM Integration.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5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OAuth 2.0 flow allows administrators to fetch client contacts from Zoho, trigger multi-channel surveys, and sync responses back to CRM records.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7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WhatsApp Session State.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5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WatiSessions tracking allows sequential question delivery (checking response data types per step) to avoid multi-message clutter on WhatsApp.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7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Department-wise NPS.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5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Aggregates Net Promoter Score dynamically for departments, mapping employee feedback back to their respective business units.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700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Scheduled Survey Cron.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5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Custom survey scheduler executes in the background to automatically dispatch pending survey campaigns via email/WhatsApp.</a:t>
            </a:r>
          </a:p>
        </p:txBody>
      </p:sp>
      <p:sp>
        <p:nvSpPr>
          <p:cNvPr id="275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InsightPulse  ·  Bendi Karthikeya</a:t>
            </a:r>
          </a:p>
        </p:txBody>
      </p:sp>
      <p:sp>
        <p:nvSpPr>
          <p:cNvPr id="276" name="9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"/>
          <p:cNvSpPr/>
          <p:nvPr/>
        </p:nvSpPr>
        <p:spPr>
          <a:xfrm>
            <a:off x="0" y="0"/>
            <a:ext cx="12192000" cy="1233488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81" name="Rectangle"/>
          <p:cNvSpPr/>
          <p:nvPr/>
        </p:nvSpPr>
        <p:spPr>
          <a:xfrm>
            <a:off x="0" y="1235075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82" name="7  ·  OUTPUTS &amp; RESULTS"/>
          <p:cNvSpPr txBox="1"/>
          <p:nvPr/>
        </p:nvSpPr>
        <p:spPr>
          <a:xfrm>
            <a:off x="548237" y="146050"/>
            <a:ext cx="11065364" cy="29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12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7  ·  OUTPUTS &amp; RESULTS</a:t>
            </a:r>
          </a:p>
        </p:txBody>
      </p:sp>
      <p:sp>
        <p:nvSpPr>
          <p:cNvPr id="283" name="Outputs &amp; Results"/>
          <p:cNvSpPr txBox="1"/>
          <p:nvPr/>
        </p:nvSpPr>
        <p:spPr>
          <a:xfrm>
            <a:off x="548237" y="420687"/>
            <a:ext cx="11065364" cy="55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 sz="27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Outputs &amp; Results</a:t>
            </a:r>
          </a:p>
        </p:txBody>
      </p:sp>
      <p:sp>
        <p:nvSpPr>
          <p:cNvPr id="284" name="Shown live in the video, walking through the running platform"/>
          <p:cNvSpPr txBox="1"/>
          <p:nvPr/>
        </p:nvSpPr>
        <p:spPr>
          <a:xfrm>
            <a:off x="565699" y="933450"/>
            <a:ext cx="11065364" cy="31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3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1300" b="0">
                <a:solidFill>
                  <a:srgbClr val="E2E8F0"/>
                </a:solidFill>
                <a:latin typeface="Trebuchet MS"/>
              </a:defRPr>
            </a:pPr>
            <a:r>
              <a:t>Demonstrated in the video walk-through of the live platform</a:t>
            </a:r>
          </a:p>
        </p:txBody>
      </p:sp>
      <p:sp>
        <p:nvSpPr>
          <p:cNvPr id="285" name="•  Upload a CV.…"/>
          <p:cNvSpPr txBox="1"/>
          <p:nvPr/>
        </p:nvSpPr>
        <p:spPr>
          <a:xfrm>
            <a:off x="684762" y="1600200"/>
            <a:ext cx="10882801" cy="3277700"/>
          </a:xfrm>
          <a:prstGeom prst="rect">
            <a:avLst/>
          </a:prstGeom>
          <a:solidFill>
            <a:srgbClr val="FAFCFE"/>
          </a:solidFill>
          <a:ln w="19050">
            <a:solidFill>
              <a:srgbClr val="E2E8F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0" tIns="365760" rIns="365760" bIns="36576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Trigger Outbound Voice AI.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Initiating a VAPI call dials the target, conducts the survey, and displays the transcript and structured output in the dashboard.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Unified Real-Time Dashboard.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React UI displays EVI, NPS, CSAT, and CES scores with period-over-period trends and 30s auto-refresh.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LLM Emotion Radar.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Sentiment classification and Plutchik's 8-emotion distribution charts dynamically render customer emotional profiles.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b="1">
                <a:solidFill>
                  <a:srgbClr val="1A6DB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450" b="1">
                <a:solidFill>
                  <a:srgbClr val="0F172A"/>
                </a:solidFill>
                <a:latin typeface="Trebuchet MS"/>
              </a:rPr>
              <a:t>•  Zoho CRM Synchronization.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 sz="16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Surveys triggered for CRM contacts correctly update fields, enabling automated customer relationship management loops.</a:t>
            </a:r>
          </a:p>
        </p:txBody>
      </p:sp>
      <p:sp>
        <p:nvSpPr>
          <p:cNvPr id="286" name="HCMS Recruitment Suite  ·  Bendi Karthikeya"/>
          <p:cNvSpPr txBox="1"/>
          <p:nvPr/>
        </p:nvSpPr>
        <p:spPr>
          <a:xfrm>
            <a:off x="548237" y="6454775"/>
            <a:ext cx="72252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InsightPulse  ·  Bendi Karthikeya</a:t>
            </a:r>
          </a:p>
        </p:txBody>
      </p:sp>
      <p:sp>
        <p:nvSpPr>
          <p:cNvPr id="287" name="10"/>
          <p:cNvSpPr txBox="1"/>
          <p:nvPr/>
        </p:nvSpPr>
        <p:spPr>
          <a:xfrm>
            <a:off x="10835237" y="6454775"/>
            <a:ext cx="824401" cy="24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lnSpc>
                <a:spcPct val="100000"/>
              </a:lnSpc>
              <a:spcBef>
                <a:spcPts val="600"/>
              </a:spcBef>
              <a:tabLst>
                <a:tab pos="914400" algn="l"/>
              </a:tabLst>
              <a:defRPr sz="900">
                <a:solidFill>
                  <a:srgbClr val="555F6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D5A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92" name="Rectangle"/>
          <p:cNvSpPr/>
          <p:nvPr/>
        </p:nvSpPr>
        <p:spPr>
          <a:xfrm>
            <a:off x="0" y="5257800"/>
            <a:ext cx="12192000" cy="46038"/>
          </a:xfrm>
          <a:prstGeom prst="rect">
            <a:avLst/>
          </a:prstGeom>
          <a:solidFill>
            <a:srgbClr val="C9A24C"/>
          </a:solidFill>
          <a:ln w="12700">
            <a:miter lim="400000"/>
          </a:ln>
          <a:effectLst>
            <a:outerShdw sx="100000" sy="100000" kx="0" ky="0" algn="b" rotWithShape="0" blurRad="63500" dist="23040" dir="5400000">
              <a:srgbClr val="000000">
                <a:alpha val="35035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93" name="9  ·  Wrap Up"/>
          <p:cNvSpPr txBox="1"/>
          <p:nvPr/>
        </p:nvSpPr>
        <p:spPr>
          <a:xfrm>
            <a:off x="776837" y="639762"/>
            <a:ext cx="10608164" cy="36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sz="1600">
                <a:solidFill>
                  <a:srgbClr val="C9A24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9  ·  Wrap Up</a:t>
            </a:r>
          </a:p>
        </p:txBody>
      </p:sp>
      <p:sp>
        <p:nvSpPr>
          <p:cNvPr id="294" name="I built the HCMS Recruitment Suite at FIT, a full hiring platform with an AI CV-screening engine at its core, taking a candidate from CV to a digitally signed offer with a complete audit trail.…"/>
          <p:cNvSpPr txBox="1"/>
          <p:nvPr/>
        </p:nvSpPr>
        <p:spPr>
          <a:xfrm>
            <a:off x="1141962" y="1371600"/>
            <a:ext cx="9876326" cy="2528400"/>
          </a:xfrm>
          <a:prstGeom prst="rect">
            <a:avLst/>
          </a:prstGeom>
          <a:solidFill>
            <a:srgbClr val="FAFCFE"/>
          </a:solidFill>
          <a:ln w="19050">
            <a:solidFill>
              <a:srgbClr val="E2E8F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0" tIns="365760" rIns="365760" bIns="365760">
            <a:spAutoFit/>
          </a:bodyPr>
          <a:lstStyle/>
          <a:p>
            <a:pPr algn="ctr"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 sz="19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I built InsightPulse at FIT: a multi-channel feedback system incorporating Voice AI and WhatsApp to centralize customer sentiment into a single analytics platform.</a:t>
            </a:r>
          </a:p>
          <a:p>
            <a:pPr algn="ctr"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 sz="16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Biggest takeaway: applying prompt engineering &amp; structured JSON output from course DA 3022 to handle complex, multi-channel inputs and model failover configurations.</a:t>
            </a:r>
          </a:p>
          <a:p>
            <a:pPr algn="ctr" lv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 sz="16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sz="1300">
                <a:solidFill>
                  <a:srgbClr val="475569"/>
                </a:solidFill>
                <a:latin typeface="Arial"/>
              </a:rPr>
              <a:t>Future work: implementing LangGraph for conversational multi-turn survey follow-ups, semantic clustering of user complaints, and real-time negative-sentiment email routing.</a:t>
            </a:r>
          </a:p>
        </p:txBody>
      </p:sp>
      <p:sp>
        <p:nvSpPr>
          <p:cNvPr id="295" name="Code Repository:  [your GitHub URL]          Video Demo:  [your demo URL]…"/>
          <p:cNvSpPr txBox="1"/>
          <p:nvPr/>
        </p:nvSpPr>
        <p:spPr>
          <a:xfrm>
            <a:off x="959399" y="5486400"/>
            <a:ext cx="10243039" cy="58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Code Repository:  https://github.com/workingaditya/insightpulse          Video Demo:  https://insightpulse.skill-pulse.io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BFD0E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Bendi Karthikeya   ·   DA 378, Internship-II   ·   IIT Guwahati (Online)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