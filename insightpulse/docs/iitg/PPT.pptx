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1pPr>
    <a:lvl2pPr marL="0" marR="0" indent="457200" algn="l" defTabSz="9144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2pPr>
    <a:lvl3pPr marL="0" marR="0" indent="914400" algn="l" defTabSz="9144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3pPr>
    <a:lvl4pPr marL="0" marR="0" indent="1371600" algn="l" defTabSz="9144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4pPr>
    <a:lvl5pPr marL="0" marR="0" indent="1828800" algn="l" defTabSz="9144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5pPr>
    <a:lvl6pPr marL="0" marR="0" indent="0" algn="l" defTabSz="9144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6pPr>
    <a:lvl7pPr marL="0" marR="0" indent="0" algn="l" defTabSz="9144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7pPr>
    <a:lvl8pPr marL="0" marR="0" indent="0" algn="l" defTabSz="9144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8pPr>
    <a:lvl9pPr marL="0" marR="0" indent="0" algn="l" defTabSz="9144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CDD"/>
          </a:solidFill>
        </a:fill>
      </a:tcStyle>
    </a:wholeTbl>
    <a:band2H>
      <a:tcTxStyle b="def" i="def"/>
      <a:tcStyle>
        <a:tcBdr/>
        <a:fill>
          <a:solidFill>
            <a:srgbClr val="E6F6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9" name="Shape 8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3" name="Shape 1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POINT 2, introduce yourself + internship. Face on camera.</a:t>
            </a:r>
          </a:p>
          <a:p>
            <a: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Say you intern at FIT - FIRST Information Technology, building client apps, and HCMS is the client project you built (Django + Groq/OpenRouter LLM). No dates needed.</a:t>
            </a:r>
          </a:p>
          <a:p>
            <a: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Full wording: VIDEO_SCRIPT.md section 2.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3" name="Shape 1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POINT 3, the problem. Recruitment is e-mail/spreadsheet/wet-ink driven; no audit trail. See VIDEO_SCRIPT.md section 3.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8" name="Shape 1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POINT 4, tools. Left = the actual HCMS stack (Python/Django + Groq/OpenRouter). Right = the wider internship stack at FIT (just context, NOT used in HCMS). Be clear no LangChain here. See VIDEO_SCRIPT.md section 4.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8" name="Shape 16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POINT 5, the data. Show a sample CV + a job posting on screen. Preprocessing = text extraction. See VIDEO_SCRIPT.md section 5.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0" name="Shape 21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POINT 6 (overview), the system as a 9-stage state machine, CV screening is stage 4. [SWITCH TO APP] after this, run the live platform for the rest. See VIDEO_SCRIPT.md section 6 intro.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2" name="Shape 2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POINT 6 (the core), open cv_screening_ai.py and walk _build_prompt, the 3 tiers, screen_candidate_cv, trigger_screening_async. This is the centerpiece, slow down. Full line-by-line narration: VIDEO_SCRIPT.md section 6.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8" name="Shape 24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POINT 6, tie the code to coursework. Course name only, NO weeks. LangChain/LangGraph from the course = future work, not used here. See VIDEO_SCRIPT.md section 6.9.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8" name="Shape 2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POINT 6 (lighter pass), the approval engine: derive whose turn it is, not store it. Show an offer's e-sign chain. See VIDEO_SCRIPT.md section 6.10.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9" name="Shape 28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POINT 7, [SWITCH TO APP] do this live: upload CV → score → rank → interview → proposal → offer e-sign. Interpret each result out loud. See VIDEO_SCRIPT.md section 7.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7" name="Shape 29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POINT 9, wrap up: what I built, what I learned (DA 3022 applied), limitations, future work, links. Thank the viewer. See VIDEO_SCRIPT.md section 9.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0813" cy="146843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399213" cy="175101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defRPr>
                <a:solidFill>
                  <a:srgbClr val="8B8B8B"/>
                </a:solidFill>
              </a:defRPr>
            </a:lvl1pPr>
            <a:lvl2pPr algn="ctr">
              <a:defRPr>
                <a:solidFill>
                  <a:srgbClr val="8B8B8B"/>
                </a:solidFill>
              </a:defRPr>
            </a:lvl2pPr>
            <a:lvl3pPr algn="ctr">
              <a:defRPr>
                <a:solidFill>
                  <a:srgbClr val="8B8B8B"/>
                </a:solidFill>
              </a:defRPr>
            </a:lvl3pPr>
            <a:lvl4pPr algn="ctr">
              <a:defRPr>
                <a:solidFill>
                  <a:srgbClr val="8B8B8B"/>
                </a:solidFill>
              </a:defRPr>
            </a:lvl4pPr>
            <a:lvl5pPr algn="ctr">
              <a:defRPr>
                <a:solidFill>
                  <a:srgbClr val="8B8B8B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7"/>
            <a:ext cx="8228013" cy="1141413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8013" cy="4524375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0813" cy="1360488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2"/>
            <a:ext cx="7770813" cy="1498601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spcBef>
                <a:spcPts val="400"/>
              </a:spcBef>
              <a:defRPr sz="2000">
                <a:solidFill>
                  <a:srgbClr val="8B8B8B"/>
                </a:solidFill>
              </a:defRPr>
            </a:lvl1pPr>
            <a:lvl2pPr>
              <a:spcBef>
                <a:spcPts val="400"/>
              </a:spcBef>
              <a:defRPr sz="2000">
                <a:solidFill>
                  <a:srgbClr val="8B8B8B"/>
                </a:solidFill>
              </a:defRPr>
            </a:lvl2pPr>
            <a:lvl3pPr>
              <a:spcBef>
                <a:spcPts val="400"/>
              </a:spcBef>
              <a:defRPr sz="2000">
                <a:solidFill>
                  <a:srgbClr val="8B8B8B"/>
                </a:solidFill>
              </a:defRPr>
            </a:lvl3pPr>
            <a:lvl4pPr>
              <a:spcBef>
                <a:spcPts val="400"/>
              </a:spcBef>
              <a:defRPr sz="2000">
                <a:solidFill>
                  <a:srgbClr val="8B8B8B"/>
                </a:solidFill>
              </a:defRPr>
            </a:lvl4pPr>
            <a:lvl5pPr>
              <a:spcBef>
                <a:spcPts val="400"/>
              </a:spcBef>
              <a:defRPr sz="2000">
                <a:solidFill>
                  <a:srgbClr val="8B8B8B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7"/>
            <a:ext cx="8228013" cy="1141413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7013" cy="4524375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500"/>
              </a:spcBef>
              <a:defRPr sz="2800"/>
            </a:lvl1pPr>
            <a:lvl2pPr>
              <a:spcBef>
                <a:spcPts val="500"/>
              </a:spcBef>
              <a:defRPr sz="2800"/>
            </a:lvl2pPr>
            <a:lvl3pPr>
              <a:spcBef>
                <a:spcPts val="500"/>
              </a:spcBef>
              <a:defRPr sz="2800"/>
            </a:lvl3pPr>
            <a:lvl4pPr>
              <a:spcBef>
                <a:spcPts val="500"/>
              </a:spcBef>
              <a:defRPr sz="2800"/>
            </a:lvl4pPr>
            <a:lvl5pPr>
              <a:spcBef>
                <a:spcPts val="5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7"/>
            <a:ext cx="8228013" cy="1141413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38600" cy="638176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spcBef>
                <a:spcPts val="400"/>
              </a:spcBef>
              <a:defRPr sz="2400"/>
            </a:lvl1pPr>
            <a:lvl2pPr>
              <a:spcBef>
                <a:spcPts val="400"/>
              </a:spcBef>
              <a:defRPr sz="2400"/>
            </a:lvl2pPr>
            <a:lvl3pPr>
              <a:spcBef>
                <a:spcPts val="400"/>
              </a:spcBef>
              <a:defRPr sz="2400"/>
            </a:lvl3pPr>
            <a:lvl4pPr>
              <a:spcBef>
                <a:spcPts val="400"/>
              </a:spcBef>
              <a:defRPr sz="2400"/>
            </a:lvl4pPr>
            <a:lvl5pPr>
              <a:spcBef>
                <a:spcPts val="400"/>
              </a:spcBef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xfrm>
            <a:off x="457200" y="274637"/>
            <a:ext cx="8228013" cy="1141413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Text"/>
          <p:cNvSpPr txBox="1"/>
          <p:nvPr>
            <p:ph type="title"/>
          </p:nvPr>
        </p:nvSpPr>
        <p:spPr>
          <a:xfrm>
            <a:off x="457200" y="273050"/>
            <a:ext cx="3006725" cy="1160463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2" name="Body Level One…"/>
          <p:cNvSpPr txBox="1"/>
          <p:nvPr>
            <p:ph type="body" sz="half" idx="1"/>
          </p:nvPr>
        </p:nvSpPr>
        <p:spPr>
          <a:xfrm>
            <a:off x="3575050" y="273050"/>
            <a:ext cx="5110163" cy="5851525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200"/>
              </a:spcBef>
              <a:defRPr sz="1400"/>
            </a:lvl1pPr>
            <a:lvl2pPr>
              <a:spcBef>
                <a:spcPts val="200"/>
              </a:spcBef>
              <a:defRPr sz="1400"/>
            </a:lvl2pPr>
            <a:lvl3pPr>
              <a:spcBef>
                <a:spcPts val="200"/>
              </a:spcBef>
              <a:defRPr sz="1400"/>
            </a:lvl3pPr>
            <a:lvl4pPr>
              <a:spcBef>
                <a:spcPts val="200"/>
              </a:spcBef>
              <a:defRPr sz="1400"/>
            </a:lvl4pPr>
            <a:lvl5pPr>
              <a:spcBef>
                <a:spcPts val="200"/>
              </a:spcBef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Text"/>
          <p:cNvSpPr txBox="1"/>
          <p:nvPr>
            <p:ph type="title"/>
          </p:nvPr>
        </p:nvSpPr>
        <p:spPr>
          <a:xfrm>
            <a:off x="1792287" y="4800600"/>
            <a:ext cx="5484813" cy="565150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1" name="Body Level One…"/>
          <p:cNvSpPr txBox="1"/>
          <p:nvPr>
            <p:ph type="body" sz="half" idx="1"/>
          </p:nvPr>
        </p:nvSpPr>
        <p:spPr>
          <a:xfrm>
            <a:off x="1792287" y="612775"/>
            <a:ext cx="5484813" cy="4113213"/>
          </a:xfrm>
          <a:prstGeom prst="rect">
            <a:avLst/>
          </a:prstGeom>
        </p:spPr>
        <p:txBody>
          <a:bodyPr lIns="44999" tIns="44999" rIns="44999" bIns="44999">
            <a:normAutofit fontScale="100000" lnSpcReduction="0"/>
          </a:bodyPr>
          <a:lstStyle>
            <a:lvl1pPr>
              <a:spcBef>
                <a:spcPts val="200"/>
              </a:spcBef>
              <a:defRPr sz="1400"/>
            </a:lvl1pPr>
            <a:lvl2pPr>
              <a:spcBef>
                <a:spcPts val="200"/>
              </a:spcBef>
              <a:defRPr sz="1400"/>
            </a:lvl2pPr>
            <a:lvl3pPr>
              <a:spcBef>
                <a:spcPts val="200"/>
              </a:spcBef>
              <a:defRPr sz="1400"/>
            </a:lvl3pPr>
            <a:lvl4pPr>
              <a:spcBef>
                <a:spcPts val="200"/>
              </a:spcBef>
              <a:defRPr sz="1400"/>
            </a:lvl4pPr>
            <a:lvl5pPr>
              <a:spcBef>
                <a:spcPts val="200"/>
              </a:spcBef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6588" y="6413966"/>
            <a:ext cx="258625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lnSpc>
                <a:spcPct val="100000"/>
              </a:lnSpc>
              <a:tabLst>
                <a:tab pos="914400" algn="l"/>
                <a:tab pos="1828800" algn="l"/>
              </a:tabLst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8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8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8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8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8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457200" algn="ctr" defTabSz="914400" rtl="0" latinLnBrk="0">
        <a:lnSpc>
          <a:spcPct val="8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914400" algn="ctr" defTabSz="914400" rtl="0" latinLnBrk="0">
        <a:lnSpc>
          <a:spcPct val="8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1371600" algn="ctr" defTabSz="914400" rtl="0" latinLnBrk="0">
        <a:lnSpc>
          <a:spcPct val="8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1828800" algn="ctr" defTabSz="914400" rtl="0" latinLnBrk="0">
        <a:lnSpc>
          <a:spcPct val="8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914400" rtl="0" latinLnBrk="0">
        <a:lnSpc>
          <a:spcPct val="83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342900" marR="0" indent="114300" algn="l" defTabSz="914400" rtl="0" latinLnBrk="0">
        <a:lnSpc>
          <a:spcPct val="83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342900" marR="0" indent="571500" algn="l" defTabSz="914400" rtl="0" latinLnBrk="0">
        <a:lnSpc>
          <a:spcPct val="83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342900" marR="0" indent="1028700" algn="l" defTabSz="914400" rtl="0" latinLnBrk="0">
        <a:lnSpc>
          <a:spcPct val="83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342900" marR="0" indent="1485900" algn="l" defTabSz="914400" rtl="0" latinLnBrk="0">
        <a:lnSpc>
          <a:spcPct val="83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342900" marR="0" indent="1943100" algn="l" defTabSz="914400" rtl="0" latinLnBrk="0">
        <a:lnSpc>
          <a:spcPct val="83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42900" marR="0" indent="2400300" algn="l" defTabSz="914400" rtl="0" latinLnBrk="0">
        <a:lnSpc>
          <a:spcPct val="83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42900" marR="0" indent="2857500" algn="l" defTabSz="914400" rtl="0" latinLnBrk="0">
        <a:lnSpc>
          <a:spcPct val="83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342900" marR="0" indent="3314700" algn="l" defTabSz="914400" rtl="0" latinLnBrk="0">
        <a:lnSpc>
          <a:spcPct val="83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</a:tabLst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</a:tabLst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</a:tabLst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</a:tabLst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</a:tabLst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</a:tabLst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</a:tabLst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</a:tabLst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</a:tabLst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roup 38"/>
          <p:cNvGrpSpPr/>
          <p:nvPr/>
        </p:nvGrpSpPr>
        <p:grpSpPr>
          <a:xfrm>
            <a:off x="-1" y="-7750"/>
            <a:ext cx="12192001" cy="6858001"/>
            <a:chOff x="0" y="0"/>
            <a:chExt cx="12192000" cy="6858000"/>
          </a:xfrm>
        </p:grpSpPr>
        <p:sp>
          <p:nvSpPr>
            <p:cNvPr id="91" name="Shape 2"/>
            <p:cNvSpPr/>
            <p:nvPr/>
          </p:nvSpPr>
          <p:spPr>
            <a:xfrm>
              <a:off x="-1" y="146304"/>
              <a:ext cx="3413761" cy="6559296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00000"/>
                </a:lnSpc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2" name="Shape 7"/>
            <p:cNvSpPr/>
            <p:nvPr/>
          </p:nvSpPr>
          <p:spPr>
            <a:xfrm>
              <a:off x="370310" y="4526279"/>
              <a:ext cx="2663406" cy="48769"/>
            </a:xfrm>
            <a:prstGeom prst="rect">
              <a:avLst/>
            </a:prstGeom>
            <a:solidFill>
              <a:srgbClr val="C8960C"/>
            </a:solidFill>
            <a:ln w="12700" cap="flat">
              <a:solidFill>
                <a:srgbClr val="C8960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00000"/>
                </a:lnSpc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grpSp>
          <p:nvGrpSpPr>
            <p:cNvPr id="96" name="Group 6"/>
            <p:cNvGrpSpPr/>
            <p:nvPr/>
          </p:nvGrpSpPr>
          <p:grpSpPr>
            <a:xfrm>
              <a:off x="0" y="-1"/>
              <a:ext cx="12192000" cy="6858001"/>
              <a:chOff x="0" y="0"/>
              <a:chExt cx="12192000" cy="6858000"/>
            </a:xfrm>
          </p:grpSpPr>
          <p:sp>
            <p:nvSpPr>
              <p:cNvPr id="93" name="Shape 0"/>
              <p:cNvSpPr/>
              <p:nvPr/>
            </p:nvSpPr>
            <p:spPr>
              <a:xfrm>
                <a:off x="0" y="-1"/>
                <a:ext cx="12192000" cy="146305"/>
              </a:xfrm>
              <a:prstGeom prst="rect">
                <a:avLst/>
              </a:prstGeom>
              <a:solidFill>
                <a:srgbClr val="C8960C"/>
              </a:solidFill>
              <a:ln w="12700" cap="flat">
                <a:solidFill>
                  <a:srgbClr val="C8960C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lnSpc>
                    <a:spcPct val="100000"/>
                  </a:lnSpc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94" name="Shape 1"/>
              <p:cNvSpPr/>
              <p:nvPr/>
            </p:nvSpPr>
            <p:spPr>
              <a:xfrm>
                <a:off x="0" y="6705600"/>
                <a:ext cx="12192000" cy="152400"/>
              </a:xfrm>
              <a:prstGeom prst="rect">
                <a:avLst/>
              </a:prstGeom>
              <a:solidFill>
                <a:srgbClr val="C8960C"/>
              </a:solidFill>
              <a:ln w="12700" cap="flat">
                <a:solidFill>
                  <a:srgbClr val="C8960C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lnSpc>
                    <a:spcPct val="100000"/>
                  </a:lnSpc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95" name="Shape 9"/>
              <p:cNvSpPr/>
              <p:nvPr/>
            </p:nvSpPr>
            <p:spPr>
              <a:xfrm>
                <a:off x="3315641" y="146304"/>
                <a:ext cx="8876359" cy="6559296"/>
              </a:xfrm>
              <a:prstGeom prst="rect">
                <a:avLst/>
              </a:prstGeom>
              <a:solidFill>
                <a:srgbClr val="003366"/>
              </a:solidFill>
              <a:ln w="12700" cap="flat">
                <a:solidFill>
                  <a:srgbClr val="00336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lnSpc>
                    <a:spcPct val="100000"/>
                  </a:lnSpc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99" name="Group 37"/>
            <p:cNvGrpSpPr/>
            <p:nvPr/>
          </p:nvGrpSpPr>
          <p:grpSpPr>
            <a:xfrm>
              <a:off x="3655695" y="426719"/>
              <a:ext cx="3048001" cy="463297"/>
              <a:chOff x="0" y="0"/>
              <a:chExt cx="3048000" cy="463295"/>
            </a:xfrm>
          </p:grpSpPr>
          <p:sp>
            <p:nvSpPr>
              <p:cNvPr id="97" name="Shape 10"/>
              <p:cNvSpPr/>
              <p:nvPr/>
            </p:nvSpPr>
            <p:spPr>
              <a:xfrm>
                <a:off x="0" y="0"/>
                <a:ext cx="3048000" cy="463296"/>
              </a:xfrm>
              <a:prstGeom prst="rect">
                <a:avLst/>
              </a:prstGeom>
              <a:solidFill>
                <a:srgbClr val="C8960C"/>
              </a:solidFill>
              <a:ln w="12700" cap="flat">
                <a:solidFill>
                  <a:srgbClr val="C8960C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lnSpc>
                    <a:spcPct val="100000"/>
                  </a:lnSpc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98" name="Text 11"/>
              <p:cNvSpPr txBox="1"/>
              <p:nvPr/>
            </p:nvSpPr>
            <p:spPr>
              <a:xfrm>
                <a:off x="138546" y="127071"/>
                <a:ext cx="2770910" cy="2091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00000"/>
                  </a:lnSpc>
                  <a:defRPr b="1" sz="160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INTERNSHIP</a:t>
                </a:r>
              </a:p>
            </p:txBody>
          </p:sp>
        </p:grpSp>
        <p:sp>
          <p:nvSpPr>
            <p:cNvPr id="100" name="Shape 13"/>
            <p:cNvSpPr/>
            <p:nvPr/>
          </p:nvSpPr>
          <p:spPr>
            <a:xfrm>
              <a:off x="3533775" y="2687512"/>
              <a:ext cx="8168641" cy="50269"/>
            </a:xfrm>
            <a:prstGeom prst="rect">
              <a:avLst/>
            </a:prstGeom>
            <a:solidFill>
              <a:srgbClr val="C8960C"/>
            </a:solidFill>
            <a:ln w="12700" cap="flat">
              <a:solidFill>
                <a:srgbClr val="C8960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00000"/>
                </a:lnSpc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grpSp>
          <p:nvGrpSpPr>
            <p:cNvPr id="104" name="Group 30"/>
            <p:cNvGrpSpPr/>
            <p:nvPr/>
          </p:nvGrpSpPr>
          <p:grpSpPr>
            <a:xfrm>
              <a:off x="89888" y="445007"/>
              <a:ext cx="3121423" cy="5200707"/>
              <a:chOff x="0" y="0"/>
              <a:chExt cx="3121422" cy="5200705"/>
            </a:xfrm>
          </p:grpSpPr>
          <p:sp>
            <p:nvSpPr>
              <p:cNvPr id="101" name="Text 6"/>
              <p:cNvSpPr txBox="1"/>
              <p:nvPr/>
            </p:nvSpPr>
            <p:spPr>
              <a:xfrm>
                <a:off x="0" y="3594296"/>
                <a:ext cx="3121423" cy="25820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lnSpc>
                    <a:spcPct val="100000"/>
                  </a:lnSpc>
                  <a:defRPr b="1" sz="130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Indian Institute of Technology</a:t>
                </a:r>
                <a:r>
                  <a:rPr b="0">
                    <a:solidFill>
                      <a:srgbClr val="000000"/>
                    </a:solidFill>
                  </a:rPr>
                  <a:t> </a:t>
                </a:r>
                <a:r>
                  <a:t>Guwahati</a:t>
                </a:r>
              </a:p>
            </p:txBody>
          </p:sp>
          <p:sp>
            <p:nvSpPr>
              <p:cNvPr id="102" name="Text 8"/>
              <p:cNvSpPr txBox="1"/>
              <p:nvPr/>
            </p:nvSpPr>
            <p:spPr>
              <a:xfrm>
                <a:off x="0" y="4761900"/>
                <a:ext cx="3121423" cy="43880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lnSpc>
                    <a:spcPct val="100000"/>
                  </a:lnSpc>
                  <a:defRPr sz="120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BSc. (Hons.) Data Science &amp; Artificial Intelligence</a:t>
                </a:r>
              </a:p>
              <a:p>
                <a:pPr algn="ctr">
                  <a:lnSpc>
                    <a:spcPct val="100000"/>
                  </a:lnSpc>
                  <a:defRPr sz="120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Online Degree Programme</a:t>
                </a:r>
              </a:p>
            </p:txBody>
          </p:sp>
          <p:pic>
            <p:nvPicPr>
              <p:cNvPr id="103" name="Picture 31" descr="Picture 31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42880" y="0"/>
                <a:ext cx="3035663" cy="298123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grpSp>
        <p:nvGrpSpPr>
          <p:cNvPr id="122" name="Group 36"/>
          <p:cNvGrpSpPr/>
          <p:nvPr/>
        </p:nvGrpSpPr>
        <p:grpSpPr>
          <a:xfrm>
            <a:off x="3794240" y="3083110"/>
            <a:ext cx="8107682" cy="2587577"/>
            <a:chOff x="0" y="0"/>
            <a:chExt cx="8107680" cy="2587576"/>
          </a:xfrm>
        </p:grpSpPr>
        <p:grpSp>
          <p:nvGrpSpPr>
            <p:cNvPr id="113" name="Group 5"/>
            <p:cNvGrpSpPr/>
            <p:nvPr/>
          </p:nvGrpSpPr>
          <p:grpSpPr>
            <a:xfrm>
              <a:off x="0" y="0"/>
              <a:ext cx="2316481" cy="2587576"/>
              <a:chOff x="0" y="0"/>
              <a:chExt cx="2316480" cy="2587575"/>
            </a:xfrm>
          </p:grpSpPr>
          <p:sp>
            <p:nvSpPr>
              <p:cNvPr id="106" name="Text 14"/>
              <p:cNvSpPr txBox="1"/>
              <p:nvPr/>
            </p:nvSpPr>
            <p:spPr>
              <a:xfrm>
                <a:off x="0" y="0"/>
                <a:ext cx="231648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 b="1">
                    <a:solidFill>
                      <a:srgbClr val="C8960C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Student Name :</a:t>
                </a:r>
              </a:p>
            </p:txBody>
          </p:sp>
          <p:sp>
            <p:nvSpPr>
              <p:cNvPr id="107" name="Text 16"/>
              <p:cNvSpPr txBox="1"/>
              <p:nvPr/>
            </p:nvSpPr>
            <p:spPr>
              <a:xfrm>
                <a:off x="0" y="390988"/>
                <a:ext cx="231648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 b="1">
                    <a:solidFill>
                      <a:srgbClr val="C8960C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Student ID :</a:t>
                </a:r>
              </a:p>
            </p:txBody>
          </p:sp>
          <p:sp>
            <p:nvSpPr>
              <p:cNvPr id="108" name="Text 18"/>
              <p:cNvSpPr txBox="1"/>
              <p:nvPr/>
            </p:nvSpPr>
            <p:spPr>
              <a:xfrm>
                <a:off x="0" y="1172964"/>
                <a:ext cx="231648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 b="1">
                    <a:solidFill>
                      <a:srgbClr val="C8960C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Programme :</a:t>
                </a:r>
              </a:p>
            </p:txBody>
          </p:sp>
          <p:sp>
            <p:nvSpPr>
              <p:cNvPr id="109" name="Text 20"/>
              <p:cNvSpPr txBox="1"/>
              <p:nvPr/>
            </p:nvSpPr>
            <p:spPr>
              <a:xfrm>
                <a:off x="0" y="1563952"/>
                <a:ext cx="231648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 b="1">
                    <a:solidFill>
                      <a:srgbClr val="C8960C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Course Code :</a:t>
                </a:r>
              </a:p>
            </p:txBody>
          </p:sp>
          <p:sp>
            <p:nvSpPr>
              <p:cNvPr id="110" name="Text 22"/>
              <p:cNvSpPr txBox="1"/>
              <p:nvPr/>
            </p:nvSpPr>
            <p:spPr>
              <a:xfrm>
                <a:off x="0" y="1954939"/>
                <a:ext cx="2316481" cy="24164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 b="1">
                    <a:solidFill>
                      <a:srgbClr val="C8960C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Course Name :</a:t>
                </a:r>
              </a:p>
            </p:txBody>
          </p:sp>
          <p:sp>
            <p:nvSpPr>
              <p:cNvPr id="111" name="Text 24"/>
              <p:cNvSpPr txBox="1"/>
              <p:nvPr/>
            </p:nvSpPr>
            <p:spPr>
              <a:xfrm>
                <a:off x="0" y="2345928"/>
                <a:ext cx="231648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 b="1">
                    <a:solidFill>
                      <a:srgbClr val="C8960C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Trimester :</a:t>
                </a:r>
              </a:p>
            </p:txBody>
          </p:sp>
          <p:sp>
            <p:nvSpPr>
              <p:cNvPr id="112" name="Text 16"/>
              <p:cNvSpPr txBox="1"/>
              <p:nvPr/>
            </p:nvSpPr>
            <p:spPr>
              <a:xfrm>
                <a:off x="0" y="781976"/>
                <a:ext cx="231648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 b="1">
                    <a:solidFill>
                      <a:srgbClr val="C8960C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Email ID :</a:t>
                </a:r>
              </a:p>
            </p:txBody>
          </p:sp>
        </p:grpSp>
        <p:grpSp>
          <p:nvGrpSpPr>
            <p:cNvPr id="121" name="Group 4"/>
            <p:cNvGrpSpPr/>
            <p:nvPr/>
          </p:nvGrpSpPr>
          <p:grpSpPr>
            <a:xfrm>
              <a:off x="2377439" y="1"/>
              <a:ext cx="5730242" cy="2587576"/>
              <a:chOff x="0" y="0"/>
              <a:chExt cx="5730240" cy="2587575"/>
            </a:xfrm>
          </p:grpSpPr>
          <p:sp>
            <p:nvSpPr>
              <p:cNvPr id="114" name="Text 15"/>
              <p:cNvSpPr txBox="1"/>
              <p:nvPr/>
            </p:nvSpPr>
            <p:spPr>
              <a:xfrm>
                <a:off x="0" y="0"/>
                <a:ext cx="573024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Bendi Karthikeya</a:t>
                </a:r>
              </a:p>
            </p:txBody>
          </p:sp>
          <p:sp>
            <p:nvSpPr>
              <p:cNvPr id="115" name="Text 17"/>
              <p:cNvSpPr txBox="1"/>
              <p:nvPr/>
            </p:nvSpPr>
            <p:spPr>
              <a:xfrm>
                <a:off x="0" y="390988"/>
                <a:ext cx="573024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23035010310</a:t>
                </a:r>
              </a:p>
            </p:txBody>
          </p:sp>
          <p:sp>
            <p:nvSpPr>
              <p:cNvPr id="116" name="Text 19"/>
              <p:cNvSpPr txBox="1"/>
              <p:nvPr/>
            </p:nvSpPr>
            <p:spPr>
              <a:xfrm>
                <a:off x="0" y="1172964"/>
                <a:ext cx="573024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BSc. (Hons.) Data Science &amp; AI</a:t>
                </a:r>
              </a:p>
            </p:txBody>
          </p:sp>
          <p:sp>
            <p:nvSpPr>
              <p:cNvPr id="117" name="Text 21"/>
              <p:cNvSpPr txBox="1"/>
              <p:nvPr/>
            </p:nvSpPr>
            <p:spPr>
              <a:xfrm>
                <a:off x="0" y="1563952"/>
                <a:ext cx="573024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DA 377</a:t>
                </a:r>
              </a:p>
            </p:txBody>
          </p:sp>
          <p:sp>
            <p:nvSpPr>
              <p:cNvPr id="118" name="Text 23"/>
              <p:cNvSpPr txBox="1"/>
              <p:nvPr/>
            </p:nvSpPr>
            <p:spPr>
              <a:xfrm>
                <a:off x="0" y="1954939"/>
                <a:ext cx="5730241" cy="24164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Internship-I</a:t>
                </a:r>
              </a:p>
            </p:txBody>
          </p:sp>
          <p:sp>
            <p:nvSpPr>
              <p:cNvPr id="119" name="Text 25"/>
              <p:cNvSpPr txBox="1"/>
              <p:nvPr/>
            </p:nvSpPr>
            <p:spPr>
              <a:xfrm>
                <a:off x="0" y="2345928"/>
                <a:ext cx="573024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VII</a:t>
                </a:r>
              </a:p>
            </p:txBody>
          </p:sp>
          <p:sp>
            <p:nvSpPr>
              <p:cNvPr id="120" name="Text 17"/>
              <p:cNvSpPr txBox="1"/>
              <p:nvPr/>
            </p:nvSpPr>
            <p:spPr>
              <a:xfrm>
                <a:off x="0" y="781976"/>
                <a:ext cx="573024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k.bendi@op.iitg.ac.in</a:t>
                </a:r>
              </a:p>
            </p:txBody>
          </p:sp>
        </p:grpSp>
      </p:grpSp>
      <p:sp>
        <p:nvSpPr>
          <p:cNvPr id="123" name="Text 12"/>
          <p:cNvSpPr txBox="1"/>
          <p:nvPr/>
        </p:nvSpPr>
        <p:spPr>
          <a:xfrm>
            <a:off x="3606691" y="1346540"/>
            <a:ext cx="8077201" cy="5592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00000"/>
              </a:lnSpc>
              <a:defRPr b="1" sz="3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HCMS Recruitment Suite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"/>
          <p:cNvSpPr/>
          <p:nvPr/>
        </p:nvSpPr>
        <p:spPr>
          <a:xfrm>
            <a:off x="0" y="0"/>
            <a:ext cx="12192000" cy="1233488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26" name="Rectangle"/>
          <p:cNvSpPr/>
          <p:nvPr/>
        </p:nvSpPr>
        <p:spPr>
          <a:xfrm>
            <a:off x="0" y="1235075"/>
            <a:ext cx="12192000" cy="46038"/>
          </a:xfrm>
          <a:prstGeom prst="rect">
            <a:avLst/>
          </a:prstGeom>
          <a:solidFill>
            <a:srgbClr val="C9A24C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27" name="2  ·  INTRODUCTION"/>
          <p:cNvSpPr txBox="1"/>
          <p:nvPr/>
        </p:nvSpPr>
        <p:spPr>
          <a:xfrm>
            <a:off x="548237" y="146050"/>
            <a:ext cx="11065364" cy="29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2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2  ·  INTRODUCTION</a:t>
            </a:r>
          </a:p>
        </p:txBody>
      </p:sp>
      <p:sp>
        <p:nvSpPr>
          <p:cNvPr id="128" name="Introduction &amp; Internship"/>
          <p:cNvSpPr txBox="1"/>
          <p:nvPr/>
        </p:nvSpPr>
        <p:spPr>
          <a:xfrm>
            <a:off x="548237" y="420687"/>
            <a:ext cx="11065364" cy="55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27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Introduction &amp; Internship</a:t>
            </a:r>
          </a:p>
        </p:txBody>
      </p:sp>
      <p:sp>
        <p:nvSpPr>
          <p:cNvPr id="129" name="•  Who I am.…"/>
          <p:cNvSpPr txBox="1"/>
          <p:nvPr/>
        </p:nvSpPr>
        <p:spPr>
          <a:xfrm>
            <a:off x="684762" y="1600200"/>
            <a:ext cx="10882801" cy="318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9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Who I am.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7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Bendi Karthikeya, BSc (Hons) Data Science &amp; AI, IIT Guwahati (Online). This is my Internship-I (DA 377) submission.</a:t>
            </a:r>
          </a:p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9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Where I intern.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7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Full Stack Generative AI Intern at FIT - FIRST Information Technology (Muscat, Oman; remote), building production-grade applications for the company's clients.</a:t>
            </a:r>
          </a:p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9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This project.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7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The HCMS Recruitment Suite (Human Capital Management System) is the client project I built at FIT, a full recruitment platform in Django / Python, with an AI CV-screening engine at its core.</a:t>
            </a:r>
          </a:p>
        </p:txBody>
      </p:sp>
      <p:sp>
        <p:nvSpPr>
          <p:cNvPr id="130" name="HCMS Recruitment Suite  ·  Bendi Karthikeya"/>
          <p:cNvSpPr txBox="1"/>
          <p:nvPr/>
        </p:nvSpPr>
        <p:spPr>
          <a:xfrm>
            <a:off x="548237" y="6454775"/>
            <a:ext cx="72252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HCMS Recruitment Suite  ·  Bendi Karthikeya</a:t>
            </a:r>
          </a:p>
        </p:txBody>
      </p:sp>
      <p:sp>
        <p:nvSpPr>
          <p:cNvPr id="131" name="2"/>
          <p:cNvSpPr txBox="1"/>
          <p:nvPr/>
        </p:nvSpPr>
        <p:spPr>
          <a:xfrm>
            <a:off x="10835237" y="6454775"/>
            <a:ext cx="8244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lnSpc>
                <a:spcPct val="100000"/>
              </a:lnSpc>
              <a:spcBef>
                <a:spcPts val="600"/>
              </a:spcBef>
              <a:tabLst>
                <a:tab pos="9144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"/>
          <p:cNvSpPr/>
          <p:nvPr/>
        </p:nvSpPr>
        <p:spPr>
          <a:xfrm>
            <a:off x="0" y="0"/>
            <a:ext cx="12192000" cy="1233488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36" name="Rectangle"/>
          <p:cNvSpPr/>
          <p:nvPr/>
        </p:nvSpPr>
        <p:spPr>
          <a:xfrm>
            <a:off x="0" y="1235075"/>
            <a:ext cx="12192000" cy="46038"/>
          </a:xfrm>
          <a:prstGeom prst="rect">
            <a:avLst/>
          </a:prstGeom>
          <a:solidFill>
            <a:srgbClr val="C9A24C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37" name="3  ·  THE PROBLEM"/>
          <p:cNvSpPr txBox="1"/>
          <p:nvPr/>
        </p:nvSpPr>
        <p:spPr>
          <a:xfrm>
            <a:off x="548237" y="146050"/>
            <a:ext cx="11065364" cy="29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2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3  ·  THE PROBLEM</a:t>
            </a:r>
          </a:p>
        </p:txBody>
      </p:sp>
      <p:sp>
        <p:nvSpPr>
          <p:cNvPr id="138" name="The Problem &amp; Why It Matters"/>
          <p:cNvSpPr txBox="1"/>
          <p:nvPr/>
        </p:nvSpPr>
        <p:spPr>
          <a:xfrm>
            <a:off x="548237" y="420687"/>
            <a:ext cx="11065364" cy="55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27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The Problem &amp; Why It Matters</a:t>
            </a:r>
          </a:p>
        </p:txBody>
      </p:sp>
      <p:sp>
        <p:nvSpPr>
          <p:cNvPr id="139" name="•  Hiring is process-heavy.…"/>
          <p:cNvSpPr txBox="1"/>
          <p:nvPr/>
        </p:nvSpPr>
        <p:spPr>
          <a:xfrm>
            <a:off x="684762" y="1554162"/>
            <a:ext cx="10882801" cy="3557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Hiring is process-heavy.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6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One hire crosses 6+ roles (requester, HOD, HR, finance, legal, management) and a dozen documents: requisitions, JDs, scorecards, proposals, offers.</a:t>
            </a:r>
          </a:p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It runs on e-mail, spreadsheets, wet ink.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6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Screening CVs by hand is slow and inconsistent, and signatures cannot be verified later.</a:t>
            </a:r>
          </a:p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Fragmented tools lose the audit trail.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6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You cannot reliably say who approved what, when, and with which signature, exactly what compliance needs.</a:t>
            </a:r>
          </a:p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The goal.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6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One platform where the whole funnel lives together, CV screening is done by AI, and every decision is recorded for audit.</a:t>
            </a:r>
          </a:p>
        </p:txBody>
      </p:sp>
      <p:sp>
        <p:nvSpPr>
          <p:cNvPr id="140" name="HCMS Recruitment Suite  ·  Bendi Karthikeya"/>
          <p:cNvSpPr txBox="1"/>
          <p:nvPr/>
        </p:nvSpPr>
        <p:spPr>
          <a:xfrm>
            <a:off x="548237" y="6454775"/>
            <a:ext cx="72252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HCMS Recruitment Suite  ·  Bendi Karthikeya</a:t>
            </a:r>
          </a:p>
        </p:txBody>
      </p:sp>
      <p:sp>
        <p:nvSpPr>
          <p:cNvPr id="141" name="3"/>
          <p:cNvSpPr txBox="1"/>
          <p:nvPr/>
        </p:nvSpPr>
        <p:spPr>
          <a:xfrm>
            <a:off x="10835237" y="6454775"/>
            <a:ext cx="8244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lnSpc>
                <a:spcPct val="100000"/>
              </a:lnSpc>
              <a:spcBef>
                <a:spcPts val="600"/>
              </a:spcBef>
              <a:tabLst>
                <a:tab pos="9144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"/>
          <p:cNvSpPr/>
          <p:nvPr/>
        </p:nvSpPr>
        <p:spPr>
          <a:xfrm>
            <a:off x="0" y="0"/>
            <a:ext cx="12192000" cy="1233488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46" name="Rectangle"/>
          <p:cNvSpPr/>
          <p:nvPr/>
        </p:nvSpPr>
        <p:spPr>
          <a:xfrm>
            <a:off x="0" y="1235075"/>
            <a:ext cx="12192000" cy="46038"/>
          </a:xfrm>
          <a:prstGeom prst="rect">
            <a:avLst/>
          </a:prstGeom>
          <a:solidFill>
            <a:srgbClr val="C9A24C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47" name="4  ·  TOOLS &amp; TECHNOLOGIES"/>
          <p:cNvSpPr txBox="1"/>
          <p:nvPr/>
        </p:nvSpPr>
        <p:spPr>
          <a:xfrm>
            <a:off x="548237" y="146050"/>
            <a:ext cx="11065364" cy="29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2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4  ·  TOOLS &amp; TECHNOLOGIES</a:t>
            </a:r>
          </a:p>
        </p:txBody>
      </p:sp>
      <p:sp>
        <p:nvSpPr>
          <p:cNvPr id="148" name="Tools &amp; Technologies"/>
          <p:cNvSpPr txBox="1"/>
          <p:nvPr/>
        </p:nvSpPr>
        <p:spPr>
          <a:xfrm>
            <a:off x="548237" y="420687"/>
            <a:ext cx="11065364" cy="55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27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Tools &amp; Technologies</a:t>
            </a:r>
          </a:p>
        </p:txBody>
      </p:sp>
      <p:sp>
        <p:nvSpPr>
          <p:cNvPr id="149" name="Rectangle"/>
          <p:cNvSpPr/>
          <p:nvPr/>
        </p:nvSpPr>
        <p:spPr>
          <a:xfrm>
            <a:off x="549275" y="1554162"/>
            <a:ext cx="5486400" cy="4297363"/>
          </a:xfrm>
          <a:prstGeom prst="rect">
            <a:avLst/>
          </a:prstGeom>
          <a:solidFill>
            <a:srgbClr val="EEF2F9"/>
          </a:solidFill>
          <a:ln w="12600">
            <a:solidFill>
              <a:srgbClr val="1A6DB5"/>
            </a:solidFill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50" name="This project, HCMS Recruitment Suite"/>
          <p:cNvSpPr txBox="1"/>
          <p:nvPr/>
        </p:nvSpPr>
        <p:spPr>
          <a:xfrm>
            <a:off x="822875" y="1692275"/>
            <a:ext cx="4939200" cy="34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b="1" sz="15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This project, HCMS Recruitment Suite</a:t>
            </a:r>
          </a:p>
        </p:txBody>
      </p:sp>
      <p:sp>
        <p:nvSpPr>
          <p:cNvPr id="151" name="•  Python · Django (backend + web app)…"/>
          <p:cNvSpPr txBox="1"/>
          <p:nvPr/>
        </p:nvSpPr>
        <p:spPr>
          <a:xfrm>
            <a:off x="822875" y="2193925"/>
            <a:ext cx="4939200" cy="2287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Python · Django (backend + web app)</a:t>
            </a:r>
          </a:p>
          <a:p>
            <a:pPr>
              <a:lnSpc>
                <a:spcPct val="100000"/>
              </a:lnSpc>
              <a:spcBef>
                <a:spcPts val="8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PostgreSQL (database)</a:t>
            </a:r>
          </a:p>
          <a:p>
            <a:pPr>
              <a:lnSpc>
                <a:spcPct val="100000"/>
              </a:lnSpc>
              <a:spcBef>
                <a:spcPts val="8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LLM via API, Llama-3.1-8B (Groq), DeepSeek (OpenRouter)</a:t>
            </a:r>
          </a:p>
          <a:p>
            <a:pPr>
              <a:lnSpc>
                <a:spcPct val="100000"/>
              </a:lnSpc>
              <a:spcBef>
                <a:spcPts val="8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PyPDF2 · python-docx (CV text extraction)</a:t>
            </a:r>
          </a:p>
          <a:p>
            <a:pPr>
              <a:lnSpc>
                <a:spcPct val="100000"/>
              </a:lnSpc>
              <a:spcBef>
                <a:spcPts val="8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DocuSign · Adobe Acrobat Sign (e-signatures)</a:t>
            </a:r>
          </a:p>
          <a:p>
            <a:pPr>
              <a:lnSpc>
                <a:spcPct val="100000"/>
              </a:lnSpc>
              <a:spcBef>
                <a:spcPts val="8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b="1" sz="1400">
                <a:solidFill>
                  <a:srgbClr val="1A2D5A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No LangChain / LangGraph, direct API calls</a:t>
            </a:r>
          </a:p>
        </p:txBody>
      </p:sp>
      <p:sp>
        <p:nvSpPr>
          <p:cNvPr id="152" name="Rectangle"/>
          <p:cNvSpPr/>
          <p:nvPr/>
        </p:nvSpPr>
        <p:spPr>
          <a:xfrm>
            <a:off x="6172200" y="1554162"/>
            <a:ext cx="5486400" cy="4297363"/>
          </a:xfrm>
          <a:prstGeom prst="rect">
            <a:avLst/>
          </a:prstGeom>
          <a:solidFill>
            <a:srgbClr val="F3EAD6"/>
          </a:solidFill>
          <a:ln w="12600">
            <a:solidFill>
              <a:srgbClr val="C9A24C"/>
            </a:solidFill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53" name="Across the internship, FIT (context)"/>
          <p:cNvSpPr txBox="1"/>
          <p:nvPr/>
        </p:nvSpPr>
        <p:spPr>
          <a:xfrm>
            <a:off x="6445800" y="1692275"/>
            <a:ext cx="4939201" cy="34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b="1" sz="1500">
                <a:solidFill>
                  <a:srgbClr val="8A6D1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Across the internship, FIT (context)</a:t>
            </a:r>
          </a:p>
        </p:txBody>
      </p:sp>
      <p:sp>
        <p:nvSpPr>
          <p:cNvPr id="154" name="•  React · TypeScript · Node.js · Express…"/>
          <p:cNvSpPr txBox="1"/>
          <p:nvPr/>
        </p:nvSpPr>
        <p:spPr>
          <a:xfrm>
            <a:off x="6445800" y="2193925"/>
            <a:ext cx="4939201" cy="170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React · TypeScript · Node.js · Express</a:t>
            </a:r>
          </a:p>
          <a:p>
            <a:pPr>
              <a:lnSpc>
                <a:spcPct val="100000"/>
              </a:lnSpc>
              <a:spcBef>
                <a:spcPts val="8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VAPI Voice AI · WhatsApp Business API</a:t>
            </a:r>
          </a:p>
          <a:p>
            <a:pPr>
              <a:lnSpc>
                <a:spcPct val="100000"/>
              </a:lnSpc>
              <a:spcBef>
                <a:spcPts val="8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Retrieval-Augmented Generation (RAG)</a:t>
            </a:r>
          </a:p>
          <a:p>
            <a:pPr>
              <a:lnSpc>
                <a:spcPct val="100000"/>
              </a:lnSpc>
              <a:spcBef>
                <a:spcPts val="8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OAuth-based CRM integrations</a:t>
            </a:r>
          </a:p>
          <a:p>
            <a:pPr>
              <a:lnSpc>
                <a:spcPct val="100000"/>
              </a:lnSpc>
              <a:spcBef>
                <a:spcPts val="8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Drizzle ORM · analytics dashboards</a:t>
            </a:r>
          </a:p>
        </p:txBody>
      </p:sp>
      <p:sp>
        <p:nvSpPr>
          <p:cNvPr id="155" name="HCMS Recruitment Suite  ·  Bendi Karthikeya"/>
          <p:cNvSpPr txBox="1"/>
          <p:nvPr/>
        </p:nvSpPr>
        <p:spPr>
          <a:xfrm>
            <a:off x="548237" y="6454775"/>
            <a:ext cx="72252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HCMS Recruitment Suite  ·  Bendi Karthikeya</a:t>
            </a:r>
          </a:p>
        </p:txBody>
      </p:sp>
      <p:sp>
        <p:nvSpPr>
          <p:cNvPr id="156" name="4"/>
          <p:cNvSpPr txBox="1"/>
          <p:nvPr/>
        </p:nvSpPr>
        <p:spPr>
          <a:xfrm>
            <a:off x="10835237" y="6454775"/>
            <a:ext cx="8244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lnSpc>
                <a:spcPct val="100000"/>
              </a:lnSpc>
              <a:spcBef>
                <a:spcPts val="600"/>
              </a:spcBef>
              <a:tabLst>
                <a:tab pos="9144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"/>
          <p:cNvSpPr/>
          <p:nvPr/>
        </p:nvSpPr>
        <p:spPr>
          <a:xfrm>
            <a:off x="0" y="0"/>
            <a:ext cx="12192000" cy="1233488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61" name="Rectangle"/>
          <p:cNvSpPr/>
          <p:nvPr/>
        </p:nvSpPr>
        <p:spPr>
          <a:xfrm>
            <a:off x="0" y="1235075"/>
            <a:ext cx="12192000" cy="46038"/>
          </a:xfrm>
          <a:prstGeom prst="rect">
            <a:avLst/>
          </a:prstGeom>
          <a:solidFill>
            <a:srgbClr val="C9A24C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62" name="5  ·  THE DATA"/>
          <p:cNvSpPr txBox="1"/>
          <p:nvPr/>
        </p:nvSpPr>
        <p:spPr>
          <a:xfrm>
            <a:off x="548237" y="146050"/>
            <a:ext cx="11065364" cy="29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2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5  ·  THE DATA</a:t>
            </a:r>
          </a:p>
        </p:txBody>
      </p:sp>
      <p:sp>
        <p:nvSpPr>
          <p:cNvPr id="163" name="The Data"/>
          <p:cNvSpPr txBox="1"/>
          <p:nvPr/>
        </p:nvSpPr>
        <p:spPr>
          <a:xfrm>
            <a:off x="548237" y="420687"/>
            <a:ext cx="11065364" cy="55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27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The Data</a:t>
            </a:r>
          </a:p>
        </p:txBody>
      </p:sp>
      <p:sp>
        <p:nvSpPr>
          <p:cNvPr id="164" name="•  Not a fixed dataset.…"/>
          <p:cNvSpPr txBox="1"/>
          <p:nvPr/>
        </p:nvSpPr>
        <p:spPr>
          <a:xfrm>
            <a:off x="684762" y="1692275"/>
            <a:ext cx="10882801" cy="2604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9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Not a fixed dataset.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7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The data is the candidate's own documents, a CV or résumé as a PDF or Word file.</a:t>
            </a:r>
          </a:p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9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Paired with the job requirement.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7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Each CV is screened against the text of the role the candidate applied for.</a:t>
            </a:r>
          </a:p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9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Preprocessing = text extraction.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7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I pull raw text from PDFs with PyPDF2 and from Word files with python-docx; that text plus the job requirement is the input to the LLM.</a:t>
            </a:r>
          </a:p>
        </p:txBody>
      </p:sp>
      <p:sp>
        <p:nvSpPr>
          <p:cNvPr id="165" name="HCMS Recruitment Suite  ·  Bendi Karthikeya"/>
          <p:cNvSpPr txBox="1"/>
          <p:nvPr/>
        </p:nvSpPr>
        <p:spPr>
          <a:xfrm>
            <a:off x="548237" y="6454775"/>
            <a:ext cx="72252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HCMS Recruitment Suite  ·  Bendi Karthikeya</a:t>
            </a:r>
          </a:p>
        </p:txBody>
      </p:sp>
      <p:sp>
        <p:nvSpPr>
          <p:cNvPr id="166" name="5"/>
          <p:cNvSpPr txBox="1"/>
          <p:nvPr/>
        </p:nvSpPr>
        <p:spPr>
          <a:xfrm>
            <a:off x="10835237" y="6454775"/>
            <a:ext cx="8244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lnSpc>
                <a:spcPct val="100000"/>
              </a:lnSpc>
              <a:spcBef>
                <a:spcPts val="600"/>
              </a:spcBef>
              <a:tabLst>
                <a:tab pos="9144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"/>
          <p:cNvSpPr/>
          <p:nvPr/>
        </p:nvSpPr>
        <p:spPr>
          <a:xfrm>
            <a:off x="0" y="0"/>
            <a:ext cx="12192000" cy="1233488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71" name="Rectangle"/>
          <p:cNvSpPr/>
          <p:nvPr/>
        </p:nvSpPr>
        <p:spPr>
          <a:xfrm>
            <a:off x="0" y="1235075"/>
            <a:ext cx="12192000" cy="46038"/>
          </a:xfrm>
          <a:prstGeom prst="rect">
            <a:avLst/>
          </a:prstGeom>
          <a:solidFill>
            <a:srgbClr val="C9A24C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72" name="6  ·  HOW IT WORKS"/>
          <p:cNvSpPr txBox="1"/>
          <p:nvPr/>
        </p:nvSpPr>
        <p:spPr>
          <a:xfrm>
            <a:off x="548237" y="146050"/>
            <a:ext cx="11065364" cy="29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2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6  ·  HOW IT WORKS</a:t>
            </a:r>
          </a:p>
        </p:txBody>
      </p:sp>
      <p:sp>
        <p:nvSpPr>
          <p:cNvPr id="173" name="How It Works, The Hiring Funnel"/>
          <p:cNvSpPr txBox="1"/>
          <p:nvPr/>
        </p:nvSpPr>
        <p:spPr>
          <a:xfrm>
            <a:off x="548237" y="420687"/>
            <a:ext cx="11065364" cy="55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27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How It Works, The Hiring Funnel</a:t>
            </a:r>
          </a:p>
        </p:txBody>
      </p:sp>
      <p:sp>
        <p:nvSpPr>
          <p:cNvPr id="174" name="Django modular monolith; every transition records an audit row"/>
          <p:cNvSpPr txBox="1"/>
          <p:nvPr/>
        </p:nvSpPr>
        <p:spPr>
          <a:xfrm>
            <a:off x="565699" y="933450"/>
            <a:ext cx="11065364" cy="31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3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Django modular monolith; every transition records an audit row</a:t>
            </a:r>
          </a:p>
        </p:txBody>
      </p:sp>
      <p:grpSp>
        <p:nvGrpSpPr>
          <p:cNvPr id="177" name="Group"/>
          <p:cNvGrpSpPr/>
          <p:nvPr/>
        </p:nvGrpSpPr>
        <p:grpSpPr>
          <a:xfrm>
            <a:off x="593725" y="1874837"/>
            <a:ext cx="2468563" cy="1233488"/>
            <a:chOff x="0" y="0"/>
            <a:chExt cx="2468562" cy="1233487"/>
          </a:xfrm>
        </p:grpSpPr>
        <p:sp>
          <p:nvSpPr>
            <p:cNvPr id="175" name="Rectangle"/>
            <p:cNvSpPr/>
            <p:nvPr/>
          </p:nvSpPr>
          <p:spPr>
            <a:xfrm>
              <a:off x="0" y="0"/>
              <a:ext cx="2468563" cy="1233488"/>
            </a:xfrm>
            <a:prstGeom prst="rect">
              <a:avLst/>
            </a:prstGeom>
            <a:solidFill>
              <a:srgbClr val="1A2D5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63500" dist="23040" dir="5400000">
                <a:srgbClr val="000000">
                  <a:alpha val="35035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914400" algn="l"/>
                  <a:tab pos="1828800" algn="l"/>
                </a:tabLst>
                <a:defRPr b="1"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176" name="Manpower Requisition"/>
            <p:cNvSpPr txBox="1"/>
            <p:nvPr/>
          </p:nvSpPr>
          <p:spPr>
            <a:xfrm>
              <a:off x="44999" y="451093"/>
              <a:ext cx="2378564" cy="33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lnSpc>
                  <a:spcPct val="100000"/>
                </a:lnSpc>
                <a:tabLst>
                  <a:tab pos="914400" algn="l"/>
                  <a:tab pos="1828800" algn="l"/>
                </a:tabLst>
                <a:defRPr b="1"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Manpower Requisition</a:t>
              </a:r>
            </a:p>
          </p:txBody>
        </p:sp>
      </p:grpSp>
      <p:sp>
        <p:nvSpPr>
          <p:cNvPr id="178" name="→"/>
          <p:cNvSpPr txBox="1"/>
          <p:nvPr/>
        </p:nvSpPr>
        <p:spPr>
          <a:xfrm>
            <a:off x="3126337" y="2239962"/>
            <a:ext cx="367201" cy="44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b="1" sz="24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81" name="Group"/>
          <p:cNvGrpSpPr/>
          <p:nvPr/>
        </p:nvGrpSpPr>
        <p:grpSpPr>
          <a:xfrm>
            <a:off x="3521075" y="1874837"/>
            <a:ext cx="2468563" cy="1233488"/>
            <a:chOff x="0" y="0"/>
            <a:chExt cx="2468562" cy="1233487"/>
          </a:xfrm>
        </p:grpSpPr>
        <p:sp>
          <p:nvSpPr>
            <p:cNvPr id="179" name="Rectangle"/>
            <p:cNvSpPr/>
            <p:nvPr/>
          </p:nvSpPr>
          <p:spPr>
            <a:xfrm>
              <a:off x="0" y="0"/>
              <a:ext cx="2468563" cy="1233488"/>
            </a:xfrm>
            <a:prstGeom prst="rect">
              <a:avLst/>
            </a:prstGeom>
            <a:solidFill>
              <a:srgbClr val="1A2D5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63500" dist="23040" dir="5400000">
                <a:srgbClr val="000000">
                  <a:alpha val="35035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914400" algn="l"/>
                  <a:tab pos="1828800" algn="l"/>
                </a:tabLst>
                <a:defRPr b="1"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180" name="Multi-step Approval"/>
            <p:cNvSpPr txBox="1"/>
            <p:nvPr/>
          </p:nvSpPr>
          <p:spPr>
            <a:xfrm>
              <a:off x="44999" y="451093"/>
              <a:ext cx="2378564" cy="33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lnSpc>
                  <a:spcPct val="100000"/>
                </a:lnSpc>
                <a:tabLst>
                  <a:tab pos="914400" algn="l"/>
                  <a:tab pos="1828800" algn="l"/>
                </a:tabLst>
                <a:defRPr b="1"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Multi-step Approval</a:t>
              </a:r>
            </a:p>
          </p:txBody>
        </p:sp>
      </p:grpSp>
      <p:sp>
        <p:nvSpPr>
          <p:cNvPr id="182" name="→"/>
          <p:cNvSpPr txBox="1"/>
          <p:nvPr/>
        </p:nvSpPr>
        <p:spPr>
          <a:xfrm>
            <a:off x="6052099" y="2239962"/>
            <a:ext cx="367201" cy="44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b="1" sz="24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85" name="Group"/>
          <p:cNvGrpSpPr/>
          <p:nvPr/>
        </p:nvGrpSpPr>
        <p:grpSpPr>
          <a:xfrm>
            <a:off x="6446837" y="1874837"/>
            <a:ext cx="2468563" cy="1233488"/>
            <a:chOff x="0" y="0"/>
            <a:chExt cx="2468562" cy="1233487"/>
          </a:xfrm>
        </p:grpSpPr>
        <p:sp>
          <p:nvSpPr>
            <p:cNvPr id="183" name="Rectangle"/>
            <p:cNvSpPr/>
            <p:nvPr/>
          </p:nvSpPr>
          <p:spPr>
            <a:xfrm>
              <a:off x="0" y="0"/>
              <a:ext cx="2468563" cy="1233488"/>
            </a:xfrm>
            <a:prstGeom prst="rect">
              <a:avLst/>
            </a:prstGeom>
            <a:solidFill>
              <a:srgbClr val="1A2D5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63500" dist="23040" dir="5400000">
                <a:srgbClr val="000000">
                  <a:alpha val="35035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914400" algn="l"/>
                  <a:tab pos="1828800" algn="l"/>
                </a:tabLst>
                <a:defRPr b="1"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184" name="Job Posting + AI-gen JD"/>
            <p:cNvSpPr txBox="1"/>
            <p:nvPr/>
          </p:nvSpPr>
          <p:spPr>
            <a:xfrm>
              <a:off x="44999" y="451093"/>
              <a:ext cx="2378564" cy="33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lnSpc>
                  <a:spcPct val="100000"/>
                </a:lnSpc>
                <a:tabLst>
                  <a:tab pos="914400" algn="l"/>
                  <a:tab pos="1828800" algn="l"/>
                </a:tabLst>
                <a:defRPr b="1"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Job Posting + AI-gen JD</a:t>
              </a:r>
            </a:p>
          </p:txBody>
        </p:sp>
      </p:grpSp>
      <p:sp>
        <p:nvSpPr>
          <p:cNvPr id="186" name="→"/>
          <p:cNvSpPr txBox="1"/>
          <p:nvPr/>
        </p:nvSpPr>
        <p:spPr>
          <a:xfrm>
            <a:off x="8979450" y="2239962"/>
            <a:ext cx="367201" cy="44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b="1" sz="24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89" name="Group"/>
          <p:cNvGrpSpPr/>
          <p:nvPr/>
        </p:nvGrpSpPr>
        <p:grpSpPr>
          <a:xfrm>
            <a:off x="9372600" y="1874837"/>
            <a:ext cx="2468563" cy="1233488"/>
            <a:chOff x="0" y="0"/>
            <a:chExt cx="2468562" cy="1233487"/>
          </a:xfrm>
        </p:grpSpPr>
        <p:sp>
          <p:nvSpPr>
            <p:cNvPr id="187" name="Rectangle"/>
            <p:cNvSpPr/>
            <p:nvPr/>
          </p:nvSpPr>
          <p:spPr>
            <a:xfrm>
              <a:off x="0" y="0"/>
              <a:ext cx="2468563" cy="1233488"/>
            </a:xfrm>
            <a:prstGeom prst="rect">
              <a:avLst/>
            </a:prstGeom>
            <a:solidFill>
              <a:srgbClr val="1A2D5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63500" dist="23040" dir="5400000">
                <a:srgbClr val="000000">
                  <a:alpha val="35035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914400" algn="l"/>
                  <a:tab pos="1828800" algn="l"/>
                </a:tabLst>
                <a:defRPr b="1"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188" name="CV Intake + LLM Screening"/>
            <p:cNvSpPr txBox="1"/>
            <p:nvPr/>
          </p:nvSpPr>
          <p:spPr>
            <a:xfrm>
              <a:off x="44999" y="330443"/>
              <a:ext cx="2378564" cy="572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lnSpc>
                  <a:spcPct val="100000"/>
                </a:lnSpc>
                <a:tabLst>
                  <a:tab pos="914400" algn="l"/>
                  <a:tab pos="1828800" algn="l"/>
                </a:tabLst>
                <a:defRPr b="1"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CV Intake + LLM Screening</a:t>
              </a:r>
            </a:p>
          </p:txBody>
        </p:sp>
      </p:grpSp>
      <p:grpSp>
        <p:nvGrpSpPr>
          <p:cNvPr id="192" name="Group"/>
          <p:cNvGrpSpPr/>
          <p:nvPr/>
        </p:nvGrpSpPr>
        <p:grpSpPr>
          <a:xfrm>
            <a:off x="593725" y="3657600"/>
            <a:ext cx="2468563" cy="1233488"/>
            <a:chOff x="0" y="0"/>
            <a:chExt cx="2468562" cy="1233487"/>
          </a:xfrm>
        </p:grpSpPr>
        <p:sp>
          <p:nvSpPr>
            <p:cNvPr id="190" name="Rectangle"/>
            <p:cNvSpPr/>
            <p:nvPr/>
          </p:nvSpPr>
          <p:spPr>
            <a:xfrm>
              <a:off x="0" y="0"/>
              <a:ext cx="2468563" cy="1233488"/>
            </a:xfrm>
            <a:prstGeom prst="rect">
              <a:avLst/>
            </a:prstGeom>
            <a:solidFill>
              <a:srgbClr val="1A6DB5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63500" dist="23040" dir="5400000">
                <a:srgbClr val="000000">
                  <a:alpha val="35035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914400" algn="l"/>
                  <a:tab pos="1828800" algn="l"/>
                </a:tabLst>
                <a:defRPr b="1"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191" name="Pipeline, Interviews + Panel Eval"/>
            <p:cNvSpPr txBox="1"/>
            <p:nvPr/>
          </p:nvSpPr>
          <p:spPr>
            <a:xfrm>
              <a:off x="44999" y="330443"/>
              <a:ext cx="2378564" cy="572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lnSpc>
                  <a:spcPct val="100000"/>
                </a:lnSpc>
                <a:tabLst>
                  <a:tab pos="914400" algn="l"/>
                  <a:tab pos="1828800" algn="l"/>
                </a:tabLst>
                <a:defRPr b="1"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Pipeline, Interviews + Panel Eval</a:t>
              </a:r>
            </a:p>
          </p:txBody>
        </p:sp>
      </p:grpSp>
      <p:sp>
        <p:nvSpPr>
          <p:cNvPr id="193" name="→"/>
          <p:cNvSpPr txBox="1"/>
          <p:nvPr/>
        </p:nvSpPr>
        <p:spPr>
          <a:xfrm>
            <a:off x="3126337" y="4022725"/>
            <a:ext cx="367201" cy="44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b="1" sz="24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96" name="Group"/>
          <p:cNvGrpSpPr/>
          <p:nvPr/>
        </p:nvGrpSpPr>
        <p:grpSpPr>
          <a:xfrm>
            <a:off x="3521075" y="3657600"/>
            <a:ext cx="2468563" cy="1233488"/>
            <a:chOff x="0" y="0"/>
            <a:chExt cx="2468562" cy="1233487"/>
          </a:xfrm>
        </p:grpSpPr>
        <p:sp>
          <p:nvSpPr>
            <p:cNvPr id="194" name="Rectangle"/>
            <p:cNvSpPr/>
            <p:nvPr/>
          </p:nvSpPr>
          <p:spPr>
            <a:xfrm>
              <a:off x="0" y="0"/>
              <a:ext cx="2468563" cy="1233488"/>
            </a:xfrm>
            <a:prstGeom prst="rect">
              <a:avLst/>
            </a:prstGeom>
            <a:solidFill>
              <a:srgbClr val="1A6DB5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63500" dist="23040" dir="5400000">
                <a:srgbClr val="000000">
                  <a:alpha val="35035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914400" algn="l"/>
                  <a:tab pos="1828800" algn="l"/>
                </a:tabLst>
                <a:defRPr b="1"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195" name="Employment Proposal e-sign"/>
            <p:cNvSpPr txBox="1"/>
            <p:nvPr/>
          </p:nvSpPr>
          <p:spPr>
            <a:xfrm>
              <a:off x="44999" y="330443"/>
              <a:ext cx="2378564" cy="572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lnSpc>
                  <a:spcPct val="100000"/>
                </a:lnSpc>
                <a:tabLst>
                  <a:tab pos="914400" algn="l"/>
                  <a:tab pos="1828800" algn="l"/>
                </a:tabLst>
                <a:defRPr b="1"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Employment Proposal e-sign</a:t>
              </a:r>
            </a:p>
          </p:txBody>
        </p:sp>
      </p:grpSp>
      <p:sp>
        <p:nvSpPr>
          <p:cNvPr id="197" name="→"/>
          <p:cNvSpPr txBox="1"/>
          <p:nvPr/>
        </p:nvSpPr>
        <p:spPr>
          <a:xfrm>
            <a:off x="6052099" y="4022725"/>
            <a:ext cx="367201" cy="44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b="1" sz="24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200" name="Group"/>
          <p:cNvGrpSpPr/>
          <p:nvPr/>
        </p:nvGrpSpPr>
        <p:grpSpPr>
          <a:xfrm>
            <a:off x="6446837" y="3657600"/>
            <a:ext cx="2468563" cy="1233488"/>
            <a:chOff x="0" y="0"/>
            <a:chExt cx="2468562" cy="1233487"/>
          </a:xfrm>
        </p:grpSpPr>
        <p:sp>
          <p:nvSpPr>
            <p:cNvPr id="198" name="Rectangle"/>
            <p:cNvSpPr/>
            <p:nvPr/>
          </p:nvSpPr>
          <p:spPr>
            <a:xfrm>
              <a:off x="0" y="0"/>
              <a:ext cx="2468563" cy="1233488"/>
            </a:xfrm>
            <a:prstGeom prst="rect">
              <a:avLst/>
            </a:prstGeom>
            <a:solidFill>
              <a:srgbClr val="1A6DB5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63500" dist="23040" dir="5400000">
                <a:srgbClr val="000000">
                  <a:alpha val="35035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914400" algn="l"/>
                  <a:tab pos="1828800" algn="l"/>
                </a:tabLst>
                <a:defRPr b="1"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199" name="Offer Letter + E-Sign"/>
            <p:cNvSpPr txBox="1"/>
            <p:nvPr/>
          </p:nvSpPr>
          <p:spPr>
            <a:xfrm>
              <a:off x="44999" y="451093"/>
              <a:ext cx="2378564" cy="33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lnSpc>
                  <a:spcPct val="100000"/>
                </a:lnSpc>
                <a:tabLst>
                  <a:tab pos="914400" algn="l"/>
                  <a:tab pos="1828800" algn="l"/>
                </a:tabLst>
                <a:defRPr b="1"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Offer Letter + E-Sign</a:t>
              </a:r>
            </a:p>
          </p:txBody>
        </p:sp>
      </p:grpSp>
      <p:sp>
        <p:nvSpPr>
          <p:cNvPr id="201" name="→"/>
          <p:cNvSpPr txBox="1"/>
          <p:nvPr/>
        </p:nvSpPr>
        <p:spPr>
          <a:xfrm>
            <a:off x="8979450" y="4022725"/>
            <a:ext cx="367201" cy="44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b="1" sz="24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204" name="Group"/>
          <p:cNvGrpSpPr/>
          <p:nvPr/>
        </p:nvGrpSpPr>
        <p:grpSpPr>
          <a:xfrm>
            <a:off x="9372600" y="3657600"/>
            <a:ext cx="2468563" cy="1233488"/>
            <a:chOff x="0" y="0"/>
            <a:chExt cx="2468562" cy="1233487"/>
          </a:xfrm>
        </p:grpSpPr>
        <p:sp>
          <p:nvSpPr>
            <p:cNvPr id="202" name="Rectangle"/>
            <p:cNvSpPr/>
            <p:nvPr/>
          </p:nvSpPr>
          <p:spPr>
            <a:xfrm>
              <a:off x="0" y="0"/>
              <a:ext cx="2468563" cy="1233488"/>
            </a:xfrm>
            <a:prstGeom prst="rect">
              <a:avLst/>
            </a:prstGeom>
            <a:solidFill>
              <a:srgbClr val="1A6DB5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63500" dist="23040" dir="5400000">
                <a:srgbClr val="000000">
                  <a:alpha val="35035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914400" algn="l"/>
                  <a:tab pos="1828800" algn="l"/>
                </a:tabLst>
                <a:defRPr b="1"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203" name="Acceptance &amp; Onboarding"/>
            <p:cNvSpPr txBox="1"/>
            <p:nvPr/>
          </p:nvSpPr>
          <p:spPr>
            <a:xfrm>
              <a:off x="44999" y="451093"/>
              <a:ext cx="2378564" cy="33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lnSpc>
                  <a:spcPct val="100000"/>
                </a:lnSpc>
                <a:tabLst>
                  <a:tab pos="914400" algn="l"/>
                  <a:tab pos="1828800" algn="l"/>
                </a:tabLst>
                <a:defRPr b="1"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Acceptance &amp; Onboarding</a:t>
              </a:r>
            </a:p>
          </p:txBody>
        </p:sp>
      </p:grpSp>
      <p:sp>
        <p:nvSpPr>
          <p:cNvPr id="205" name="↓"/>
          <p:cNvSpPr txBox="1"/>
          <p:nvPr/>
        </p:nvSpPr>
        <p:spPr>
          <a:xfrm>
            <a:off x="3566074" y="3108325"/>
            <a:ext cx="457689" cy="44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b="1" sz="24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206" name="Status changes only through engine functions, never ad-hoc edits, so the whole funnel is replayable for audit."/>
          <p:cNvSpPr txBox="1"/>
          <p:nvPr/>
        </p:nvSpPr>
        <p:spPr>
          <a:xfrm>
            <a:off x="684762" y="5486400"/>
            <a:ext cx="10882801" cy="33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Status changes only through engine functions, never ad-hoc edits, so the whole funnel is replayable for audit.</a:t>
            </a:r>
          </a:p>
        </p:txBody>
      </p:sp>
      <p:sp>
        <p:nvSpPr>
          <p:cNvPr id="207" name="HCMS Recruitment Suite  ·  Bendi Karthikeya"/>
          <p:cNvSpPr txBox="1"/>
          <p:nvPr/>
        </p:nvSpPr>
        <p:spPr>
          <a:xfrm>
            <a:off x="548237" y="6454775"/>
            <a:ext cx="72252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HCMS Recruitment Suite  ·  Bendi Karthikeya</a:t>
            </a:r>
          </a:p>
        </p:txBody>
      </p:sp>
      <p:sp>
        <p:nvSpPr>
          <p:cNvPr id="208" name="6"/>
          <p:cNvSpPr txBox="1"/>
          <p:nvPr/>
        </p:nvSpPr>
        <p:spPr>
          <a:xfrm>
            <a:off x="10835237" y="6454775"/>
            <a:ext cx="8244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lnSpc>
                <a:spcPct val="100000"/>
              </a:lnSpc>
              <a:spcBef>
                <a:spcPts val="600"/>
              </a:spcBef>
              <a:tabLst>
                <a:tab pos="9144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"/>
          <p:cNvSpPr/>
          <p:nvPr/>
        </p:nvSpPr>
        <p:spPr>
          <a:xfrm>
            <a:off x="0" y="0"/>
            <a:ext cx="12192000" cy="1233488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13" name="Rectangle"/>
          <p:cNvSpPr/>
          <p:nvPr/>
        </p:nvSpPr>
        <p:spPr>
          <a:xfrm>
            <a:off x="0" y="1235075"/>
            <a:ext cx="12192000" cy="46038"/>
          </a:xfrm>
          <a:prstGeom prst="rect">
            <a:avLst/>
          </a:prstGeom>
          <a:solidFill>
            <a:srgbClr val="C9A24C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14" name="6  ·  CODE WALKTHROUGH"/>
          <p:cNvSpPr txBox="1"/>
          <p:nvPr/>
        </p:nvSpPr>
        <p:spPr>
          <a:xfrm>
            <a:off x="548237" y="146050"/>
            <a:ext cx="11065364" cy="29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2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6  ·  CODE WALKTHROUGH</a:t>
            </a:r>
          </a:p>
        </p:txBody>
      </p:sp>
      <p:sp>
        <p:nvSpPr>
          <p:cNvPr id="215" name="AI CV Screening Engine"/>
          <p:cNvSpPr txBox="1"/>
          <p:nvPr/>
        </p:nvSpPr>
        <p:spPr>
          <a:xfrm>
            <a:off x="548237" y="420687"/>
            <a:ext cx="11065364" cy="55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27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AI CV Screening Engine</a:t>
            </a:r>
          </a:p>
        </p:txBody>
      </p:sp>
      <p:sp>
        <p:nvSpPr>
          <p:cNvPr id="216" name="recruitment/cv_screening_ai.py, a three-tier fallback, so it never hard-fails"/>
          <p:cNvSpPr txBox="1"/>
          <p:nvPr/>
        </p:nvSpPr>
        <p:spPr>
          <a:xfrm>
            <a:off x="565699" y="933450"/>
            <a:ext cx="11065364" cy="31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3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recruitment/cv_screening_ai.py, a three-tier fallback, so it never hard-fails</a:t>
            </a:r>
          </a:p>
        </p:txBody>
      </p:sp>
      <p:grpSp>
        <p:nvGrpSpPr>
          <p:cNvPr id="219" name="Group"/>
          <p:cNvGrpSpPr/>
          <p:nvPr/>
        </p:nvGrpSpPr>
        <p:grpSpPr>
          <a:xfrm>
            <a:off x="639762" y="1508125"/>
            <a:ext cx="3382963" cy="1096963"/>
            <a:chOff x="0" y="0"/>
            <a:chExt cx="3382962" cy="1096962"/>
          </a:xfrm>
        </p:grpSpPr>
        <p:sp>
          <p:nvSpPr>
            <p:cNvPr id="217" name="Rectangle"/>
            <p:cNvSpPr/>
            <p:nvPr/>
          </p:nvSpPr>
          <p:spPr>
            <a:xfrm>
              <a:off x="0" y="0"/>
              <a:ext cx="3382963" cy="1096963"/>
            </a:xfrm>
            <a:prstGeom prst="rect">
              <a:avLst/>
            </a:prstGeom>
            <a:solidFill>
              <a:srgbClr val="C9A24C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63500" dist="23040" dir="5400000">
                <a:srgbClr val="000000">
                  <a:alpha val="35035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914400" algn="l"/>
                  <a:tab pos="1828800" algn="l"/>
                  <a:tab pos="2743200" algn="l"/>
                </a:tabLst>
                <a:defRPr sz="13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218" name="TIER 1 · PRIMARY…"/>
            <p:cNvSpPr txBox="1"/>
            <p:nvPr/>
          </p:nvSpPr>
          <p:spPr>
            <a:xfrm>
              <a:off x="44999" y="287581"/>
              <a:ext cx="3292964" cy="52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914400" algn="l"/>
                  <a:tab pos="1828800" algn="l"/>
                  <a:tab pos="2743200" algn="l"/>
                </a:tabLst>
                <a:defRPr b="1" sz="12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TIER 1 · PRIMARY</a:t>
              </a:r>
            </a:p>
            <a:p>
              <a:pPr algn="ctr">
                <a:lnSpc>
                  <a:spcPct val="100000"/>
                </a:lnSpc>
                <a:tabLst>
                  <a:tab pos="914400" algn="l"/>
                  <a:tab pos="1828800" algn="l"/>
                  <a:tab pos="2743200" algn="l"/>
                </a:tabLst>
                <a:defRPr sz="13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Llama-3.1-8B (Groq)</a:t>
              </a:r>
            </a:p>
          </p:txBody>
        </p:sp>
      </p:grpSp>
      <p:sp>
        <p:nvSpPr>
          <p:cNvPr id="220" name="→"/>
          <p:cNvSpPr txBox="1"/>
          <p:nvPr/>
        </p:nvSpPr>
        <p:spPr>
          <a:xfrm>
            <a:off x="4050262" y="1828800"/>
            <a:ext cx="457689" cy="42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b="1" sz="2200">
                <a:solidFill>
                  <a:srgbClr val="1A2D5A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223" name="Group"/>
          <p:cNvGrpSpPr/>
          <p:nvPr/>
        </p:nvGrpSpPr>
        <p:grpSpPr>
          <a:xfrm>
            <a:off x="4525962" y="1508125"/>
            <a:ext cx="3382963" cy="1096963"/>
            <a:chOff x="0" y="0"/>
            <a:chExt cx="3382962" cy="1096962"/>
          </a:xfrm>
        </p:grpSpPr>
        <p:sp>
          <p:nvSpPr>
            <p:cNvPr id="221" name="Rectangle"/>
            <p:cNvSpPr/>
            <p:nvPr/>
          </p:nvSpPr>
          <p:spPr>
            <a:xfrm>
              <a:off x="0" y="0"/>
              <a:ext cx="3382963" cy="1096963"/>
            </a:xfrm>
            <a:prstGeom prst="rect">
              <a:avLst/>
            </a:prstGeom>
            <a:solidFill>
              <a:srgbClr val="1A6DB5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63500" dist="23040" dir="5400000">
                <a:srgbClr val="000000">
                  <a:alpha val="35035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914400" algn="l"/>
                  <a:tab pos="1828800" algn="l"/>
                  <a:tab pos="2743200" algn="l"/>
                </a:tabLst>
                <a:defRPr sz="13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222" name="TIER 2 · BACKUP…"/>
            <p:cNvSpPr txBox="1"/>
            <p:nvPr/>
          </p:nvSpPr>
          <p:spPr>
            <a:xfrm>
              <a:off x="44999" y="287581"/>
              <a:ext cx="3292964" cy="52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914400" algn="l"/>
                  <a:tab pos="1828800" algn="l"/>
                  <a:tab pos="2743200" algn="l"/>
                </a:tabLst>
                <a:defRPr b="1" sz="12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TIER 2 · BACKUP</a:t>
              </a:r>
            </a:p>
            <a:p>
              <a:pPr algn="ctr">
                <a:lnSpc>
                  <a:spcPct val="100000"/>
                </a:lnSpc>
                <a:tabLst>
                  <a:tab pos="914400" algn="l"/>
                  <a:tab pos="1828800" algn="l"/>
                  <a:tab pos="2743200" algn="l"/>
                </a:tabLst>
                <a:defRPr sz="13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DeepSeek (OpenRouter)</a:t>
              </a:r>
            </a:p>
          </p:txBody>
        </p:sp>
      </p:grpSp>
      <p:sp>
        <p:nvSpPr>
          <p:cNvPr id="224" name="→"/>
          <p:cNvSpPr txBox="1"/>
          <p:nvPr/>
        </p:nvSpPr>
        <p:spPr>
          <a:xfrm>
            <a:off x="7936462" y="1828800"/>
            <a:ext cx="457689" cy="42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b="1" sz="2200">
                <a:solidFill>
                  <a:srgbClr val="1A2D5A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227" name="Group"/>
          <p:cNvGrpSpPr/>
          <p:nvPr/>
        </p:nvGrpSpPr>
        <p:grpSpPr>
          <a:xfrm>
            <a:off x="8412162" y="1508125"/>
            <a:ext cx="3382963" cy="1096963"/>
            <a:chOff x="0" y="0"/>
            <a:chExt cx="3382962" cy="1096962"/>
          </a:xfrm>
        </p:grpSpPr>
        <p:sp>
          <p:nvSpPr>
            <p:cNvPr id="225" name="Rectangle"/>
            <p:cNvSpPr/>
            <p:nvPr/>
          </p:nvSpPr>
          <p:spPr>
            <a:xfrm>
              <a:off x="0" y="0"/>
              <a:ext cx="3382963" cy="1096963"/>
            </a:xfrm>
            <a:prstGeom prst="rect">
              <a:avLst/>
            </a:prstGeom>
            <a:solidFill>
              <a:srgbClr val="555F6E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63500" dist="23040" dir="5400000">
                <a:srgbClr val="000000">
                  <a:alpha val="35035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914400" algn="l"/>
                  <a:tab pos="1828800" algn="l"/>
                  <a:tab pos="2743200" algn="l"/>
                </a:tabLst>
                <a:defRPr sz="13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226" name="TIER 3 · OFFLINE…"/>
            <p:cNvSpPr txBox="1"/>
            <p:nvPr/>
          </p:nvSpPr>
          <p:spPr>
            <a:xfrm>
              <a:off x="44999" y="287581"/>
              <a:ext cx="3292964" cy="52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914400" algn="l"/>
                  <a:tab pos="1828800" algn="l"/>
                  <a:tab pos="2743200" algn="l"/>
                </a:tabLst>
                <a:defRPr b="1" sz="12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TIER 3 · OFFLINE</a:t>
              </a:r>
            </a:p>
            <a:p>
              <a:pPr algn="ctr">
                <a:lnSpc>
                  <a:spcPct val="100000"/>
                </a:lnSpc>
                <a:tabLst>
                  <a:tab pos="914400" algn="l"/>
                  <a:tab pos="1828800" algn="l"/>
                  <a:tab pos="2743200" algn="l"/>
                </a:tabLst>
                <a:defRPr sz="13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Regex (no API key)</a:t>
              </a:r>
            </a:p>
          </p:txBody>
        </p:sp>
      </p:grpSp>
      <p:sp>
        <p:nvSpPr>
          <p:cNvPr id="228" name="•  Engineered prompt, _build_prompt().…"/>
          <p:cNvSpPr txBox="1"/>
          <p:nvPr/>
        </p:nvSpPr>
        <p:spPr>
          <a:xfrm>
            <a:off x="684762" y="2835275"/>
            <a:ext cx="10882801" cy="277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5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Engineered prompt, _build_prompt().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3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Role ('senior HR evaluator') + task + CV/JD context + an 8-criterion rubric (80 pts) + strict JSON schema. The STEP 1 extract → 2 score → 3 total → 4 threshold protocol is chain-of-thought.</a:t>
            </a:r>
          </a:p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5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Structured + reproducible.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3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response_format = JSON object forces valid JSON; temperature 0.3 makes the same CV score the same way.</a:t>
            </a:r>
          </a:p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5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Explainable thresholds.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3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≥70% auto-shortlist, ≥60% interview, &lt;60% reject, mirroring the company's paper evaluation form.</a:t>
            </a:r>
          </a:p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5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Non-blocking.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3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Inference runs in a background thread; the UI shows 'screening…' and polls for the score.</a:t>
            </a:r>
          </a:p>
        </p:txBody>
      </p:sp>
      <p:sp>
        <p:nvSpPr>
          <p:cNvPr id="229" name="HCMS Recruitment Suite  ·  Bendi Karthikeya"/>
          <p:cNvSpPr txBox="1"/>
          <p:nvPr/>
        </p:nvSpPr>
        <p:spPr>
          <a:xfrm>
            <a:off x="548237" y="6454775"/>
            <a:ext cx="72252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HCMS Recruitment Suite  ·  Bendi Karthikeya</a:t>
            </a:r>
          </a:p>
        </p:txBody>
      </p:sp>
      <p:sp>
        <p:nvSpPr>
          <p:cNvPr id="230" name="7"/>
          <p:cNvSpPr txBox="1"/>
          <p:nvPr/>
        </p:nvSpPr>
        <p:spPr>
          <a:xfrm>
            <a:off x="10835237" y="6454775"/>
            <a:ext cx="8244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lnSpc>
                <a:spcPct val="100000"/>
              </a:lnSpc>
              <a:spcBef>
                <a:spcPts val="600"/>
              </a:spcBef>
              <a:tabLst>
                <a:tab pos="9144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"/>
          <p:cNvSpPr/>
          <p:nvPr/>
        </p:nvSpPr>
        <p:spPr>
          <a:xfrm>
            <a:off x="0" y="0"/>
            <a:ext cx="12192000" cy="1233488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35" name="Rectangle"/>
          <p:cNvSpPr/>
          <p:nvPr/>
        </p:nvSpPr>
        <p:spPr>
          <a:xfrm>
            <a:off x="0" y="1235075"/>
            <a:ext cx="12192000" cy="46038"/>
          </a:xfrm>
          <a:prstGeom prst="rect">
            <a:avLst/>
          </a:prstGeom>
          <a:solidFill>
            <a:srgbClr val="C9A24C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36" name="6  ·  ACADEMIC FOUNDATION"/>
          <p:cNvSpPr txBox="1"/>
          <p:nvPr/>
        </p:nvSpPr>
        <p:spPr>
          <a:xfrm>
            <a:off x="548237" y="146050"/>
            <a:ext cx="11065364" cy="29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2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6  ·  ACADEMIC FOUNDATION</a:t>
            </a:r>
          </a:p>
        </p:txBody>
      </p:sp>
      <p:sp>
        <p:nvSpPr>
          <p:cNvPr id="237" name="Where I Learned This"/>
          <p:cNvSpPr txBox="1"/>
          <p:nvPr/>
        </p:nvSpPr>
        <p:spPr>
          <a:xfrm>
            <a:off x="548237" y="420687"/>
            <a:ext cx="11065364" cy="55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27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Where I Learned This</a:t>
            </a:r>
          </a:p>
        </p:txBody>
      </p:sp>
      <p:sp>
        <p:nvSpPr>
          <p:cNvPr id="238" name="Course: Large Language Model Application Engineering (DA 3022)"/>
          <p:cNvSpPr txBox="1"/>
          <p:nvPr/>
        </p:nvSpPr>
        <p:spPr>
          <a:xfrm>
            <a:off x="565699" y="933450"/>
            <a:ext cx="11065364" cy="31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3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Course: Large Language Model Application Engineering (DA 3022)</a:t>
            </a:r>
          </a:p>
        </p:txBody>
      </p:sp>
      <p:sp>
        <p:nvSpPr>
          <p:cNvPr id="239" name="Rectangle"/>
          <p:cNvSpPr/>
          <p:nvPr/>
        </p:nvSpPr>
        <p:spPr>
          <a:xfrm>
            <a:off x="549275" y="1554162"/>
            <a:ext cx="4205288" cy="4297363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40" name="Large Language Model Application Engineering"/>
          <p:cNvSpPr txBox="1"/>
          <p:nvPr/>
        </p:nvSpPr>
        <p:spPr>
          <a:xfrm>
            <a:off x="822874" y="1782762"/>
            <a:ext cx="3658089" cy="67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</a:tabLst>
              <a:defRPr b="1" sz="17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Large Language Model Application Engineering</a:t>
            </a:r>
          </a:p>
        </p:txBody>
      </p:sp>
      <p:sp>
        <p:nvSpPr>
          <p:cNvPr id="241" name="Course DA 3022"/>
          <p:cNvSpPr txBox="1"/>
          <p:nvPr/>
        </p:nvSpPr>
        <p:spPr>
          <a:xfrm>
            <a:off x="822874" y="2743200"/>
            <a:ext cx="3658089" cy="31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</a:tabLst>
              <a:defRPr b="1" sz="13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Course DA 3022</a:t>
            </a:r>
          </a:p>
        </p:txBody>
      </p:sp>
      <p:sp>
        <p:nvSpPr>
          <p:cNvPr id="242" name="•  Prompt engineering…"/>
          <p:cNvSpPr txBox="1"/>
          <p:nvPr/>
        </p:nvSpPr>
        <p:spPr>
          <a:xfrm>
            <a:off x="822874" y="3200400"/>
            <a:ext cx="3658089" cy="1321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00000"/>
              </a:lnSpc>
              <a:spcBef>
                <a:spcPts val="700"/>
              </a:spcBef>
              <a:tabLst>
                <a:tab pos="914400" algn="l"/>
                <a:tab pos="1828800" algn="l"/>
                <a:tab pos="2743200" algn="l"/>
                <a:tab pos="3657600" algn="l"/>
              </a:tabLst>
              <a:defRPr sz="14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Prompt engineering</a:t>
            </a:r>
          </a:p>
          <a:p>
            <a:pPr>
              <a:lnSpc>
                <a:spcPct val="100000"/>
              </a:lnSpc>
              <a:spcBef>
                <a:spcPts val="700"/>
              </a:spcBef>
              <a:tabLst>
                <a:tab pos="914400" algn="l"/>
                <a:tab pos="1828800" algn="l"/>
                <a:tab pos="2743200" algn="l"/>
                <a:tab pos="3657600" algn="l"/>
              </a:tabLst>
              <a:defRPr sz="14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Structured outputs</a:t>
            </a:r>
          </a:p>
          <a:p>
            <a:pPr>
              <a:lnSpc>
                <a:spcPct val="100000"/>
              </a:lnSpc>
              <a:spcBef>
                <a:spcPts val="700"/>
              </a:spcBef>
              <a:tabLst>
                <a:tab pos="914400" algn="l"/>
                <a:tab pos="1828800" algn="l"/>
                <a:tab pos="2743200" algn="l"/>
                <a:tab pos="3657600" algn="l"/>
              </a:tabLst>
              <a:defRPr sz="14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Chain-of-thought</a:t>
            </a:r>
          </a:p>
          <a:p>
            <a:pPr>
              <a:lnSpc>
                <a:spcPct val="100000"/>
              </a:lnSpc>
              <a:spcBef>
                <a:spcPts val="700"/>
              </a:spcBef>
              <a:tabLst>
                <a:tab pos="914400" algn="l"/>
                <a:tab pos="1828800" algn="l"/>
                <a:tab pos="2743200" algn="l"/>
                <a:tab pos="3657600" algn="l"/>
              </a:tabLst>
              <a:defRPr sz="14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Guardrails &amp; reliability</a:t>
            </a:r>
          </a:p>
        </p:txBody>
      </p:sp>
      <p:sp>
        <p:nvSpPr>
          <p:cNvPr id="243" name="Concept  →  where it is in my code"/>
          <p:cNvSpPr txBox="1"/>
          <p:nvPr/>
        </p:nvSpPr>
        <p:spPr>
          <a:xfrm>
            <a:off x="5074199" y="1481137"/>
            <a:ext cx="6585439" cy="333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b="1" sz="1400">
                <a:solidFill>
                  <a:srgbClr val="1A2D5A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Concept  →  where it is in my code</a:t>
            </a:r>
          </a:p>
        </p:txBody>
      </p:sp>
      <p:sp>
        <p:nvSpPr>
          <p:cNvPr id="244" name="•  Prompt anatomy…"/>
          <p:cNvSpPr txBox="1"/>
          <p:nvPr/>
        </p:nvSpPr>
        <p:spPr>
          <a:xfrm>
            <a:off x="5074199" y="1920875"/>
            <a:ext cx="6585439" cy="318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b="1" sz="15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Prompt anatomy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13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role + task + context + rubric + constraints + schema → _build_prompt()</a:t>
            </a:r>
          </a:p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b="1" sz="15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Chain-of-thought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13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the STEP 1 → 2 → 3 → 4 protocol inside the prompt</a:t>
            </a:r>
          </a:p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b="1" sz="15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Structured output / JSON mode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13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response_format = json_object; strict JSON schema</a:t>
            </a:r>
          </a:p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b="1" sz="15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Reliability over creativity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13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temperature 0.3 for reproducible scores</a:t>
            </a:r>
          </a:p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b="1" sz="15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Guardrails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13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'Return ONLY valid JSON', 'do not speculate'</a:t>
            </a:r>
          </a:p>
        </p:txBody>
      </p:sp>
      <p:sp>
        <p:nvSpPr>
          <p:cNvPr id="245" name="HCMS Recruitment Suite  ·  Bendi Karthikeya"/>
          <p:cNvSpPr txBox="1"/>
          <p:nvPr/>
        </p:nvSpPr>
        <p:spPr>
          <a:xfrm>
            <a:off x="548237" y="6454775"/>
            <a:ext cx="72252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HCMS Recruitment Suite  ·  Bendi Karthikeya</a:t>
            </a:r>
          </a:p>
        </p:txBody>
      </p:sp>
      <p:sp>
        <p:nvSpPr>
          <p:cNvPr id="246" name="8"/>
          <p:cNvSpPr txBox="1"/>
          <p:nvPr/>
        </p:nvSpPr>
        <p:spPr>
          <a:xfrm>
            <a:off x="10835237" y="6454775"/>
            <a:ext cx="8244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lnSpc>
                <a:spcPct val="100000"/>
              </a:lnSpc>
              <a:spcBef>
                <a:spcPts val="600"/>
              </a:spcBef>
              <a:tabLst>
                <a:tab pos="9144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ctangle"/>
          <p:cNvSpPr/>
          <p:nvPr/>
        </p:nvSpPr>
        <p:spPr>
          <a:xfrm>
            <a:off x="0" y="0"/>
            <a:ext cx="12192000" cy="1233488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51" name="Rectangle"/>
          <p:cNvSpPr/>
          <p:nvPr/>
        </p:nvSpPr>
        <p:spPr>
          <a:xfrm>
            <a:off x="0" y="1235075"/>
            <a:ext cx="12192000" cy="46038"/>
          </a:xfrm>
          <a:prstGeom prst="rect">
            <a:avLst/>
          </a:prstGeom>
          <a:solidFill>
            <a:srgbClr val="C9A24C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52" name="6  ·  CODE WALKTHROUGH"/>
          <p:cNvSpPr txBox="1"/>
          <p:nvPr/>
        </p:nvSpPr>
        <p:spPr>
          <a:xfrm>
            <a:off x="548237" y="146050"/>
            <a:ext cx="11065364" cy="29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2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6  ·  CODE WALKTHROUGH</a:t>
            </a:r>
          </a:p>
        </p:txBody>
      </p:sp>
      <p:sp>
        <p:nvSpPr>
          <p:cNvPr id="253" name="Sequential Approval Engine"/>
          <p:cNvSpPr txBox="1"/>
          <p:nvPr/>
        </p:nvSpPr>
        <p:spPr>
          <a:xfrm>
            <a:off x="548237" y="420687"/>
            <a:ext cx="11065364" cy="55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27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Sequential Approval Engine</a:t>
            </a:r>
          </a:p>
        </p:txBody>
      </p:sp>
      <p:sp>
        <p:nvSpPr>
          <p:cNvPr id="254" name="The other core idea, and real e-signatures"/>
          <p:cNvSpPr txBox="1"/>
          <p:nvPr/>
        </p:nvSpPr>
        <p:spPr>
          <a:xfrm>
            <a:off x="565699" y="933450"/>
            <a:ext cx="11065364" cy="31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3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The other core idea, and real e-signatures</a:t>
            </a:r>
          </a:p>
        </p:txBody>
      </p:sp>
      <p:sp>
        <p:nvSpPr>
          <p:cNvPr id="255" name="•  Chains are ordered step rows.…"/>
          <p:cNvSpPr txBox="1"/>
          <p:nvPr/>
        </p:nvSpPr>
        <p:spPr>
          <a:xfrm>
            <a:off x="684762" y="1600200"/>
            <a:ext cx="10882801" cy="279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7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Chains are ordered step rows.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5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One row per decision point (sequence, approver, status, signature).</a:t>
            </a:r>
          </a:p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7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Actionability is derived, not stored.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5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First pending step is ACTIVE; all later steps WAIT. Out-of-order or duplicate signing is impossible by design.</a:t>
            </a:r>
          </a:p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7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Same engine everywhere.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5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Requisitions, employment proposals, and offer letters all reuse it.</a:t>
            </a:r>
          </a:p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7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Real e-signatures.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5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The offer is signed through DocuSign or Adobe Acrobat Sign, and the signed PDF is stored back on the record.</a:t>
            </a:r>
          </a:p>
        </p:txBody>
      </p:sp>
      <p:grpSp>
        <p:nvGrpSpPr>
          <p:cNvPr id="258" name="Group"/>
          <p:cNvGrpSpPr/>
          <p:nvPr/>
        </p:nvGrpSpPr>
        <p:grpSpPr>
          <a:xfrm>
            <a:off x="1189037" y="5486400"/>
            <a:ext cx="1690688" cy="457200"/>
            <a:chOff x="0" y="0"/>
            <a:chExt cx="1690687" cy="457200"/>
          </a:xfrm>
        </p:grpSpPr>
        <p:sp>
          <p:nvSpPr>
            <p:cNvPr id="256" name="Rectangle"/>
            <p:cNvSpPr/>
            <p:nvPr/>
          </p:nvSpPr>
          <p:spPr>
            <a:xfrm>
              <a:off x="0" y="0"/>
              <a:ext cx="1690688" cy="457200"/>
            </a:xfrm>
            <a:prstGeom prst="rect">
              <a:avLst/>
            </a:prstGeom>
            <a:solidFill>
              <a:srgbClr val="1A6DB5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63500" dist="23040" dir="5400000">
                <a:srgbClr val="000000">
                  <a:alpha val="35035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914400" algn="l"/>
                </a:tabLst>
                <a:defRPr b="1" sz="12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257" name="APPROVED"/>
            <p:cNvSpPr txBox="1"/>
            <p:nvPr/>
          </p:nvSpPr>
          <p:spPr>
            <a:xfrm>
              <a:off x="44999" y="82000"/>
              <a:ext cx="1600689" cy="29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lnSpc>
                  <a:spcPct val="100000"/>
                </a:lnSpc>
                <a:tabLst>
                  <a:tab pos="914400" algn="l"/>
                </a:tabLst>
                <a:defRPr b="1" sz="12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APPROVED</a:t>
              </a:r>
            </a:p>
          </p:txBody>
        </p:sp>
      </p:grpSp>
      <p:sp>
        <p:nvSpPr>
          <p:cNvPr id="259" name="→"/>
          <p:cNvSpPr txBox="1"/>
          <p:nvPr/>
        </p:nvSpPr>
        <p:spPr>
          <a:xfrm>
            <a:off x="2934249" y="5459412"/>
            <a:ext cx="275126" cy="31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b="1" sz="1600">
                <a:solidFill>
                  <a:srgbClr val="1A2D5A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262" name="Group"/>
          <p:cNvGrpSpPr/>
          <p:nvPr/>
        </p:nvGrpSpPr>
        <p:grpSpPr>
          <a:xfrm>
            <a:off x="3246437" y="5486400"/>
            <a:ext cx="1690688" cy="457200"/>
            <a:chOff x="0" y="0"/>
            <a:chExt cx="1690687" cy="457200"/>
          </a:xfrm>
        </p:grpSpPr>
        <p:sp>
          <p:nvSpPr>
            <p:cNvPr id="260" name="Rectangle"/>
            <p:cNvSpPr/>
            <p:nvPr/>
          </p:nvSpPr>
          <p:spPr>
            <a:xfrm>
              <a:off x="0" y="0"/>
              <a:ext cx="1690688" cy="457200"/>
            </a:xfrm>
            <a:prstGeom prst="rect">
              <a:avLst/>
            </a:prstGeom>
            <a:solidFill>
              <a:srgbClr val="1A6DB5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63500" dist="23040" dir="5400000">
                <a:srgbClr val="000000">
                  <a:alpha val="35035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914400" algn="l"/>
                </a:tabLst>
                <a:defRPr b="1" sz="12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261" name="APPROVED"/>
            <p:cNvSpPr txBox="1"/>
            <p:nvPr/>
          </p:nvSpPr>
          <p:spPr>
            <a:xfrm>
              <a:off x="44999" y="82000"/>
              <a:ext cx="1600689" cy="29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lnSpc>
                  <a:spcPct val="100000"/>
                </a:lnSpc>
                <a:tabLst>
                  <a:tab pos="914400" algn="l"/>
                </a:tabLst>
                <a:defRPr b="1" sz="12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APPROVED</a:t>
              </a:r>
            </a:p>
          </p:txBody>
        </p:sp>
      </p:grpSp>
      <p:sp>
        <p:nvSpPr>
          <p:cNvPr id="263" name="→"/>
          <p:cNvSpPr txBox="1"/>
          <p:nvPr/>
        </p:nvSpPr>
        <p:spPr>
          <a:xfrm>
            <a:off x="4991649" y="5459412"/>
            <a:ext cx="275126" cy="31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b="1" sz="1600">
                <a:solidFill>
                  <a:srgbClr val="1A2D5A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266" name="Group"/>
          <p:cNvGrpSpPr/>
          <p:nvPr/>
        </p:nvGrpSpPr>
        <p:grpSpPr>
          <a:xfrm>
            <a:off x="5303837" y="5486400"/>
            <a:ext cx="1690688" cy="457200"/>
            <a:chOff x="0" y="0"/>
            <a:chExt cx="1690687" cy="457200"/>
          </a:xfrm>
        </p:grpSpPr>
        <p:sp>
          <p:nvSpPr>
            <p:cNvPr id="264" name="Rectangle"/>
            <p:cNvSpPr/>
            <p:nvPr/>
          </p:nvSpPr>
          <p:spPr>
            <a:xfrm>
              <a:off x="0" y="0"/>
              <a:ext cx="1690688" cy="457200"/>
            </a:xfrm>
            <a:prstGeom prst="rect">
              <a:avLst/>
            </a:prstGeom>
            <a:solidFill>
              <a:srgbClr val="C9A24C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63500" dist="23040" dir="5400000">
                <a:srgbClr val="000000">
                  <a:alpha val="35035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914400" algn="l"/>
                </a:tabLst>
                <a:defRPr b="1" sz="12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265" name="ACTIVE"/>
            <p:cNvSpPr txBox="1"/>
            <p:nvPr/>
          </p:nvSpPr>
          <p:spPr>
            <a:xfrm>
              <a:off x="44999" y="82000"/>
              <a:ext cx="1600689" cy="29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lnSpc>
                  <a:spcPct val="100000"/>
                </a:lnSpc>
                <a:tabLst>
                  <a:tab pos="914400" algn="l"/>
                </a:tabLst>
                <a:defRPr b="1" sz="12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ACTIVE</a:t>
              </a:r>
            </a:p>
          </p:txBody>
        </p:sp>
      </p:grpSp>
      <p:sp>
        <p:nvSpPr>
          <p:cNvPr id="267" name="→"/>
          <p:cNvSpPr txBox="1"/>
          <p:nvPr/>
        </p:nvSpPr>
        <p:spPr>
          <a:xfrm>
            <a:off x="7049050" y="5459412"/>
            <a:ext cx="275126" cy="31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b="1" sz="1600">
                <a:solidFill>
                  <a:srgbClr val="1A2D5A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270" name="Group"/>
          <p:cNvGrpSpPr/>
          <p:nvPr/>
        </p:nvGrpSpPr>
        <p:grpSpPr>
          <a:xfrm>
            <a:off x="7361237" y="5486400"/>
            <a:ext cx="1690688" cy="457200"/>
            <a:chOff x="0" y="0"/>
            <a:chExt cx="1690687" cy="457200"/>
          </a:xfrm>
        </p:grpSpPr>
        <p:sp>
          <p:nvSpPr>
            <p:cNvPr id="268" name="Rectangle"/>
            <p:cNvSpPr/>
            <p:nvPr/>
          </p:nvSpPr>
          <p:spPr>
            <a:xfrm>
              <a:off x="0" y="0"/>
              <a:ext cx="1690688" cy="457200"/>
            </a:xfrm>
            <a:prstGeom prst="rect">
              <a:avLst/>
            </a:prstGeom>
            <a:solidFill>
              <a:srgbClr val="555F6E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63500" dist="23040" dir="5400000">
                <a:srgbClr val="000000">
                  <a:alpha val="35035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914400" algn="l"/>
                </a:tabLst>
                <a:defRPr b="1" sz="12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269" name="WAITING"/>
            <p:cNvSpPr txBox="1"/>
            <p:nvPr/>
          </p:nvSpPr>
          <p:spPr>
            <a:xfrm>
              <a:off x="44999" y="82000"/>
              <a:ext cx="1600689" cy="29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lnSpc>
                  <a:spcPct val="100000"/>
                </a:lnSpc>
                <a:tabLst>
                  <a:tab pos="914400" algn="l"/>
                </a:tabLst>
                <a:defRPr b="1" sz="12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WAITING</a:t>
              </a:r>
            </a:p>
          </p:txBody>
        </p:sp>
      </p:grpSp>
      <p:sp>
        <p:nvSpPr>
          <p:cNvPr id="271" name="→"/>
          <p:cNvSpPr txBox="1"/>
          <p:nvPr/>
        </p:nvSpPr>
        <p:spPr>
          <a:xfrm>
            <a:off x="9106450" y="5459412"/>
            <a:ext cx="275126" cy="31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b="1" sz="1600">
                <a:solidFill>
                  <a:srgbClr val="1A2D5A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274" name="Group"/>
          <p:cNvGrpSpPr/>
          <p:nvPr/>
        </p:nvGrpSpPr>
        <p:grpSpPr>
          <a:xfrm>
            <a:off x="9418637" y="5486400"/>
            <a:ext cx="1690688" cy="457200"/>
            <a:chOff x="0" y="0"/>
            <a:chExt cx="1690687" cy="457200"/>
          </a:xfrm>
        </p:grpSpPr>
        <p:sp>
          <p:nvSpPr>
            <p:cNvPr id="272" name="Rectangle"/>
            <p:cNvSpPr/>
            <p:nvPr/>
          </p:nvSpPr>
          <p:spPr>
            <a:xfrm>
              <a:off x="0" y="0"/>
              <a:ext cx="1690688" cy="457200"/>
            </a:xfrm>
            <a:prstGeom prst="rect">
              <a:avLst/>
            </a:prstGeom>
            <a:solidFill>
              <a:srgbClr val="555F6E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63500" dist="23040" dir="5400000">
                <a:srgbClr val="000000">
                  <a:alpha val="35035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914400" algn="l"/>
                </a:tabLst>
                <a:defRPr b="1" sz="12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273" name="WAITING"/>
            <p:cNvSpPr txBox="1"/>
            <p:nvPr/>
          </p:nvSpPr>
          <p:spPr>
            <a:xfrm>
              <a:off x="44999" y="82000"/>
              <a:ext cx="1600689" cy="29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lnSpc>
                  <a:spcPct val="100000"/>
                </a:lnSpc>
                <a:tabLst>
                  <a:tab pos="914400" algn="l"/>
                </a:tabLst>
                <a:defRPr b="1" sz="12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WAITING</a:t>
              </a:r>
            </a:p>
          </p:txBody>
        </p:sp>
      </p:grpSp>
      <p:sp>
        <p:nvSpPr>
          <p:cNvPr id="275" name="HCMS Recruitment Suite  ·  Bendi Karthikeya"/>
          <p:cNvSpPr txBox="1"/>
          <p:nvPr/>
        </p:nvSpPr>
        <p:spPr>
          <a:xfrm>
            <a:off x="548237" y="6454775"/>
            <a:ext cx="72252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HCMS Recruitment Suite  ·  Bendi Karthikeya</a:t>
            </a:r>
          </a:p>
        </p:txBody>
      </p:sp>
      <p:sp>
        <p:nvSpPr>
          <p:cNvPr id="276" name="9"/>
          <p:cNvSpPr txBox="1"/>
          <p:nvPr/>
        </p:nvSpPr>
        <p:spPr>
          <a:xfrm>
            <a:off x="10835237" y="6454775"/>
            <a:ext cx="8244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lnSpc>
                <a:spcPct val="100000"/>
              </a:lnSpc>
              <a:spcBef>
                <a:spcPts val="600"/>
              </a:spcBef>
              <a:tabLst>
                <a:tab pos="9144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ctangle"/>
          <p:cNvSpPr/>
          <p:nvPr/>
        </p:nvSpPr>
        <p:spPr>
          <a:xfrm>
            <a:off x="0" y="0"/>
            <a:ext cx="12192000" cy="1233488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81" name="Rectangle"/>
          <p:cNvSpPr/>
          <p:nvPr/>
        </p:nvSpPr>
        <p:spPr>
          <a:xfrm>
            <a:off x="0" y="1235075"/>
            <a:ext cx="12192000" cy="46038"/>
          </a:xfrm>
          <a:prstGeom prst="rect">
            <a:avLst/>
          </a:prstGeom>
          <a:solidFill>
            <a:srgbClr val="C9A24C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82" name="7  ·  OUTPUTS &amp; RESULTS"/>
          <p:cNvSpPr txBox="1"/>
          <p:nvPr/>
        </p:nvSpPr>
        <p:spPr>
          <a:xfrm>
            <a:off x="548237" y="146050"/>
            <a:ext cx="11065364" cy="29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2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7  ·  OUTPUTS &amp; RESULTS</a:t>
            </a:r>
          </a:p>
        </p:txBody>
      </p:sp>
      <p:sp>
        <p:nvSpPr>
          <p:cNvPr id="283" name="Outputs &amp; Results"/>
          <p:cNvSpPr txBox="1"/>
          <p:nvPr/>
        </p:nvSpPr>
        <p:spPr>
          <a:xfrm>
            <a:off x="548237" y="420687"/>
            <a:ext cx="11065364" cy="55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27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Outputs &amp; Results</a:t>
            </a:r>
          </a:p>
        </p:txBody>
      </p:sp>
      <p:sp>
        <p:nvSpPr>
          <p:cNvPr id="284" name="Shown live in the video, walking through the running platform"/>
          <p:cNvSpPr txBox="1"/>
          <p:nvPr/>
        </p:nvSpPr>
        <p:spPr>
          <a:xfrm>
            <a:off x="565699" y="933450"/>
            <a:ext cx="11065364" cy="31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3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Shown live in the video, walking through the running platform</a:t>
            </a:r>
          </a:p>
        </p:txBody>
      </p:sp>
      <p:sp>
        <p:nvSpPr>
          <p:cNvPr id="285" name="•  Upload a CV.…"/>
          <p:cNvSpPr txBox="1"/>
          <p:nvPr/>
        </p:nvSpPr>
        <p:spPr>
          <a:xfrm>
            <a:off x="684762" y="1600200"/>
            <a:ext cx="10882801" cy="327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Upload a CV.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6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The candidate row shows 'screening…', then flips to a score with the 8-criterion breakdown and matched vs. missing skills.</a:t>
            </a:r>
          </a:p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Ranked pipeline.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6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Candidates are ordered by match score, so the strongest are on top.</a:t>
            </a:r>
          </a:p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Interviews → proposal.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6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Rounds are scored; when complete, the candidate becomes an employment proposal.</a:t>
            </a:r>
          </a:p>
          <a:p>
            <a:pPr>
              <a:lnSpc>
                <a:spcPct val="100000"/>
              </a:lnSpc>
              <a:spcBef>
                <a:spcPts val="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 E-signed offer.</a:t>
            </a:r>
          </a:p>
          <a:p>
            <a:pPr>
              <a:lnSpc>
                <a:spcPct val="100000"/>
              </a:lnSpc>
              <a:spcBef>
                <a:spcPts val="11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6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The approval chain shows one active signer at a time, ending in an offer letter signed through DocuSign / Adobe.</a:t>
            </a:r>
          </a:p>
        </p:txBody>
      </p:sp>
      <p:sp>
        <p:nvSpPr>
          <p:cNvPr id="286" name="HCMS Recruitment Suite  ·  Bendi Karthikeya"/>
          <p:cNvSpPr txBox="1"/>
          <p:nvPr/>
        </p:nvSpPr>
        <p:spPr>
          <a:xfrm>
            <a:off x="548237" y="6454775"/>
            <a:ext cx="72252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HCMS Recruitment Suite  ·  Bendi Karthikeya</a:t>
            </a:r>
          </a:p>
        </p:txBody>
      </p:sp>
      <p:sp>
        <p:nvSpPr>
          <p:cNvPr id="287" name="10"/>
          <p:cNvSpPr txBox="1"/>
          <p:nvPr/>
        </p:nvSpPr>
        <p:spPr>
          <a:xfrm>
            <a:off x="10835237" y="6454775"/>
            <a:ext cx="8244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lnSpc>
                <a:spcPct val="100000"/>
              </a:lnSpc>
              <a:spcBef>
                <a:spcPts val="600"/>
              </a:spcBef>
              <a:tabLst>
                <a:tab pos="9144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92" name="Rectangle"/>
          <p:cNvSpPr/>
          <p:nvPr/>
        </p:nvSpPr>
        <p:spPr>
          <a:xfrm>
            <a:off x="0" y="5257800"/>
            <a:ext cx="12192000" cy="46038"/>
          </a:xfrm>
          <a:prstGeom prst="rect">
            <a:avLst/>
          </a:prstGeom>
          <a:solidFill>
            <a:srgbClr val="C9A24C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93" name="9  ·  Wrap Up"/>
          <p:cNvSpPr txBox="1"/>
          <p:nvPr/>
        </p:nvSpPr>
        <p:spPr>
          <a:xfrm>
            <a:off x="776837" y="639762"/>
            <a:ext cx="10608164" cy="36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 sz="16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9  ·  Wrap Up</a:t>
            </a:r>
          </a:p>
        </p:txBody>
      </p:sp>
      <p:sp>
        <p:nvSpPr>
          <p:cNvPr id="294" name="I built the HCMS Recruitment Suite at FIT, a full hiring platform with an AI CV-screening engine at its core, taking a candidate from CV to a digitally signed offer with a complete audit trail.…"/>
          <p:cNvSpPr txBox="1"/>
          <p:nvPr/>
        </p:nvSpPr>
        <p:spPr>
          <a:xfrm>
            <a:off x="1141962" y="1371600"/>
            <a:ext cx="9876326" cy="2528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algn="ctr">
              <a:lnSpc>
                <a:spcPct val="100000"/>
              </a:lnSpc>
              <a:spcBef>
                <a:spcPts val="14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 sz="19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I built the HCMS Recruitment Suite at FIT, a full hiring platform with an AI CV-screening engine at its core, taking a candidate from CV to a digitally signed offer with a complete audit trail.</a:t>
            </a:r>
          </a:p>
          <a:p>
            <a:pPr algn="ctr">
              <a:lnSpc>
                <a:spcPct val="100000"/>
              </a:lnSpc>
              <a:spcBef>
                <a:spcPts val="1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 sz="16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Biggest takeaway: applying prompt engineering from my course (DA 3022) to a real product, getting an LLM to return reliable, structured, explainable output.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 sz="16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Future work: embedding-based matching and a LangGraph workflow, plus a bias and fairness audit before trusting the AI unattended.</a:t>
            </a:r>
          </a:p>
        </p:txBody>
      </p:sp>
      <p:sp>
        <p:nvSpPr>
          <p:cNvPr id="295" name="Code Repository:  [your GitHub URL]          Video Demo:  [your demo URL]…"/>
          <p:cNvSpPr txBox="1"/>
          <p:nvPr/>
        </p:nvSpPr>
        <p:spPr>
          <a:xfrm>
            <a:off x="959399" y="5486400"/>
            <a:ext cx="10243039" cy="58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Code Repository:  [your GitHub URL]          Video Demo:  [your demo URL]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Bendi Karthikeya   ·   DA 377, Internship-I   ·   IIT Guwahati (Online)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9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9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9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9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